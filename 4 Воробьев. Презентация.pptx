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6"/>
  </p:notesMasterIdLst>
  <p:sldIdLst>
    <p:sldId id="256" r:id="rId2"/>
    <p:sldId id="270" r:id="rId3"/>
    <p:sldId id="377" r:id="rId4"/>
    <p:sldId id="268" r:id="rId5"/>
    <p:sldId id="259" r:id="rId6"/>
    <p:sldId id="260" r:id="rId7"/>
    <p:sldId id="285" r:id="rId8"/>
    <p:sldId id="286" r:id="rId9"/>
    <p:sldId id="290" r:id="rId10"/>
    <p:sldId id="289" r:id="rId11"/>
    <p:sldId id="287" r:id="rId12"/>
    <p:sldId id="305" r:id="rId13"/>
    <p:sldId id="302" r:id="rId14"/>
    <p:sldId id="386" r:id="rId15"/>
    <p:sldId id="389" r:id="rId16"/>
    <p:sldId id="381" r:id="rId17"/>
    <p:sldId id="306" r:id="rId18"/>
    <p:sldId id="379" r:id="rId19"/>
    <p:sldId id="303" r:id="rId20"/>
    <p:sldId id="383" r:id="rId21"/>
    <p:sldId id="384" r:id="rId22"/>
    <p:sldId id="388" r:id="rId23"/>
    <p:sldId id="304" r:id="rId24"/>
    <p:sldId id="382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Open Sans Light" panose="020B030603050402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8C5A6F-419A-424B-BF4D-7BF6FD84BE88}">
  <a:tblStyle styleId="{198C5A6F-419A-424B-BF4D-7BF6FD84BE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32" autoAdjust="0"/>
    <p:restoredTop sz="88912" autoAdjust="0"/>
  </p:normalViewPr>
  <p:slideViewPr>
    <p:cSldViewPr snapToGrid="0">
      <p:cViewPr varScale="1">
        <p:scale>
          <a:sx n="88" d="100"/>
          <a:sy n="88" d="100"/>
        </p:scale>
        <p:origin x="48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6" name="Google Shape;10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9624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3496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8716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8159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64269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2" name="Google Shape;13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6811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1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7727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9786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09936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ru-RU" sz="1200" dirty="0"/>
              <a:t>Длина и шаг зависят от метода: </a:t>
            </a:r>
            <a:r>
              <a:rPr lang="ru-RU" sz="1200" dirty="0" err="1"/>
              <a:t>Wavelet</a:t>
            </a:r>
            <a:r>
              <a:rPr lang="ru-RU" sz="1200" dirty="0"/>
              <a:t> использует предыдущие 1440 минут и рассчитывается для каждой точки; STL и SSA используют предыдущие 5 или 7 суток и обновляются раз в сутки.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87726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indent="0">
              <a:spcBef>
                <a:spcPts val="600"/>
              </a:spcBef>
              <a:buNone/>
            </a:pPr>
            <a:r>
              <a:rPr lang="ru-RU" sz="1200" b="1" dirty="0"/>
              <a:t>Модели предобработки:</a:t>
            </a:r>
          </a:p>
          <a:p>
            <a:pPr>
              <a:spcBef>
                <a:spcPts val="600"/>
              </a:spcBef>
            </a:pPr>
            <a:r>
              <a:rPr lang="ru-RU" sz="1200" b="1" dirty="0"/>
              <a:t>Единая предобработка</a:t>
            </a:r>
            <a:r>
              <a:rPr lang="ru-RU" sz="1200" dirty="0"/>
              <a:t>: временной ряд температуры приводится к регулярной сетке 10 минут (агрегация </a:t>
            </a:r>
            <a:r>
              <a:rPr lang="ru-RU" sz="1200" dirty="0" err="1"/>
              <a:t>mean</a:t>
            </a:r>
            <a:r>
              <a:rPr lang="ru-RU" sz="1200" dirty="0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1127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indent="0">
              <a:spcBef>
                <a:spcPts val="600"/>
              </a:spcBef>
              <a:buNone/>
            </a:pPr>
            <a:r>
              <a:rPr lang="ru-RU" sz="1200" b="1" dirty="0"/>
              <a:t>Модели предобработки:</a:t>
            </a:r>
            <a:endParaRPr lang="ru-RU" sz="1200" dirty="0"/>
          </a:p>
          <a:p>
            <a:pPr marL="101600" indent="0">
              <a:spcBef>
                <a:spcPts val="600"/>
              </a:spcBef>
              <a:buNone/>
            </a:pPr>
            <a:r>
              <a:rPr lang="ru-RU" sz="1200" dirty="0"/>
              <a:t>• В </a:t>
            </a:r>
            <a:r>
              <a:rPr lang="ru-RU" sz="1200" dirty="0" err="1"/>
              <a:t>XGBoost</a:t>
            </a:r>
            <a:r>
              <a:rPr lang="ru-RU" sz="1200" dirty="0"/>
              <a:t> температура и суточные лаги масштабируются методом </a:t>
            </a:r>
            <a:r>
              <a:rPr lang="ru-RU" sz="1200" dirty="0" err="1"/>
              <a:t>RobustScaler</a:t>
            </a:r>
            <a:r>
              <a:rPr lang="ru-RU" sz="1200" dirty="0"/>
              <a:t> по нормальным обучающим данным.</a:t>
            </a:r>
            <a:br>
              <a:rPr lang="ru-RU" sz="1200" dirty="0"/>
            </a:br>
            <a:r>
              <a:rPr lang="ru-RU" sz="1200" dirty="0"/>
              <a:t>• В </a:t>
            </a:r>
            <a:r>
              <a:rPr lang="ru-RU" sz="1200" dirty="0" err="1"/>
              <a:t>CatBoost</a:t>
            </a:r>
            <a:r>
              <a:rPr lang="ru-RU" sz="1200" dirty="0"/>
              <a:t> и </a:t>
            </a:r>
            <a:r>
              <a:rPr lang="ru-RU" sz="1200" dirty="0" err="1"/>
              <a:t>XGBoost</a:t>
            </a:r>
            <a:r>
              <a:rPr lang="ru-RU" sz="1200" dirty="0"/>
              <a:t> время суток и день недели кодируются парами </a:t>
            </a:r>
            <a:r>
              <a:rPr lang="ru-RU" sz="1200" dirty="0" err="1"/>
              <a:t>sin</a:t>
            </a:r>
            <a:r>
              <a:rPr lang="ru-RU" sz="1200" dirty="0"/>
              <a:t>/</a:t>
            </a:r>
            <a:r>
              <a:rPr lang="ru-RU" sz="1200" dirty="0" err="1"/>
              <a:t>cos</a:t>
            </a:r>
            <a:r>
              <a:rPr lang="ru-RU" sz="1200" dirty="0"/>
              <a:t>.</a:t>
            </a:r>
            <a:endParaRPr lang="ru-RU" sz="12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3475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19810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01943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37D7554-D10C-4E29-B8E6-BB7111FA614F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59508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65105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31784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3703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1">
  <p:cSld name="Заголовок 1">
    <p:bg>
      <p:bgPr>
        <a:solidFill>
          <a:srgbClr val="3F636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17" name="Google Shape;17;p2"/>
          <p:cNvCxnSpPr/>
          <p:nvPr/>
        </p:nvCxnSpPr>
        <p:spPr>
          <a:xfrm>
            <a:off x="896628" y="0"/>
            <a:ext cx="0" cy="6858000"/>
          </a:xfrm>
          <a:prstGeom prst="straightConnector1">
            <a:avLst/>
          </a:prstGeom>
          <a:noFill/>
          <a:ln w="19050" cap="flat" cmpd="sng">
            <a:solidFill>
              <a:srgbClr val="F2ECE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" name="Google Shape;18;p2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">
  <p:cSld name="Заголовок и объект ">
    <p:bg>
      <p:bgPr>
        <a:solidFill>
          <a:srgbClr val="E9F0F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1450153" y="2108722"/>
            <a:ext cx="8552264" cy="411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3" name="Google Shape;23;p3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w="19050" cap="flat" cmpd="sng">
            <a:solidFill>
              <a:srgbClr val="3F636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вестка 1">
  <p:cSld name="Повестка 1">
    <p:bg>
      <p:bgPr>
        <a:solidFill>
          <a:srgbClr val="E9F0F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6388461" y="737115"/>
            <a:ext cx="4449712" cy="5407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9" name="Google Shape;29;p4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w="19050" cap="flat" cmpd="sng">
            <a:solidFill>
              <a:srgbClr val="3F636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" name="Google Shape;30;p4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рисунок">
  <p:cSld name="Заголовок и рисунок">
    <p:bg>
      <p:bgPr>
        <a:solidFill>
          <a:srgbClr val="E9F0F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1353827" y="1278294"/>
            <a:ext cx="5000318" cy="4904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>
            <a:spLocks noGrp="1"/>
          </p:cNvSpPr>
          <p:nvPr>
            <p:ph type="pic" idx="2"/>
          </p:nvPr>
        </p:nvSpPr>
        <p:spPr>
          <a:xfrm>
            <a:off x="6642169" y="-1"/>
            <a:ext cx="4635426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37" name="Google Shape;37;p5"/>
          <p:cNvCxnSpPr/>
          <p:nvPr/>
        </p:nvCxnSpPr>
        <p:spPr>
          <a:xfrm>
            <a:off x="896628" y="0"/>
            <a:ext cx="0" cy="6858000"/>
          </a:xfrm>
          <a:prstGeom prst="straightConnector1">
            <a:avLst/>
          </a:prstGeom>
          <a:noFill/>
          <a:ln w="19050" cap="flat" cmpd="sng">
            <a:solidFill>
              <a:srgbClr val="3F636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подзаголовок">
  <p:cSld name="Заголовок и подзаголовок">
    <p:bg>
      <p:bgPr>
        <a:solidFill>
          <a:srgbClr val="E9F0F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1353827" y="3508311"/>
            <a:ext cx="9923770" cy="1438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>
            <a:spLocks noGrp="1"/>
          </p:cNvSpPr>
          <p:nvPr>
            <p:ph type="pic" idx="2"/>
          </p:nvPr>
        </p:nvSpPr>
        <p:spPr>
          <a:xfrm>
            <a:off x="915600" y="0"/>
            <a:ext cx="10361995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6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43" name="Google Shape;43;p6"/>
          <p:cNvCxnSpPr/>
          <p:nvPr/>
        </p:nvCxnSpPr>
        <p:spPr>
          <a:xfrm>
            <a:off x="896628" y="0"/>
            <a:ext cx="0" cy="6858000"/>
          </a:xfrm>
          <a:prstGeom prst="straightConnector1">
            <a:avLst/>
          </a:prstGeom>
          <a:noFill/>
          <a:ln w="19050" cap="flat" cmpd="sng">
            <a:solidFill>
              <a:srgbClr val="3F636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>
  <p:cSld name="Заголовок раздела">
    <p:bg>
      <p:bgPr>
        <a:solidFill>
          <a:schemeClr val="accent6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/>
          <p:nvPr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9" name="Google Shape;49;p7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2 объекта ">
  <p:cSld name="Заголовок и 2 объекта ">
    <p:bg>
      <p:bgPr>
        <a:solidFill>
          <a:srgbClr val="F2ECE9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"/>
          </p:nvPr>
        </p:nvSpPr>
        <p:spPr>
          <a:xfrm>
            <a:off x="1468814" y="2057401"/>
            <a:ext cx="4627186" cy="411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2"/>
          </p:nvPr>
        </p:nvSpPr>
        <p:spPr>
          <a:xfrm>
            <a:off x="6668185" y="2057401"/>
            <a:ext cx="4609399" cy="411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56" name="Google Shape;56;p8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w="19050" cap="flat" cmpd="sng">
            <a:solidFill>
              <a:srgbClr val="DF97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2 объекта 3">
  <p:cSld name="Заголовок и 2 объекта 3">
    <p:bg>
      <p:bgPr>
        <a:solidFill>
          <a:srgbClr val="F2ECE9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1468815" y="2057401"/>
            <a:ext cx="3068678" cy="411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eriod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arenR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romanLcPeriod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5191727" y="2057401"/>
            <a:ext cx="6085857" cy="411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63" name="Google Shape;63;p9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w="19050" cap="flat" cmpd="sng">
            <a:solidFill>
              <a:srgbClr val="DF97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рисунок и содержимое">
  <p:cSld name="Заголовок, рисунок и содержимое">
    <p:bg>
      <p:bgPr>
        <a:solidFill>
          <a:srgbClr val="F2ECE9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503363" y="2061969"/>
            <a:ext cx="4592637" cy="4805362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6787262" y="2052736"/>
            <a:ext cx="4490320" cy="4800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0" name="Google Shape;70;p10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w="19050" cap="flat" cmpd="sng">
            <a:solidFill>
              <a:srgbClr val="DF978A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, содержимое и таблица">
  <p:cSld name="Заголовок, содержимое и таблица">
    <p:bg>
      <p:bgPr>
        <a:solidFill>
          <a:srgbClr val="F2ECE9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1468814" y="2057400"/>
            <a:ext cx="3091027" cy="386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76" name="Google Shape;76;p11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w="19050" cap="flat" cmpd="sng">
            <a:solidFill>
              <a:srgbClr val="DF97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2 объекта 2">
  <p:cSld name="Заголовок и 2 объекта 2">
    <p:bg>
      <p:bgPr>
        <a:solidFill>
          <a:srgbClr val="F2ECE9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80" name="Google Shape;80;p12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w="19050" cap="flat" cmpd="sng">
            <a:solidFill>
              <a:srgbClr val="DF97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>
            <a:off x="1468814" y="2066731"/>
            <a:ext cx="6452876" cy="386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2"/>
          </p:nvPr>
        </p:nvSpPr>
        <p:spPr>
          <a:xfrm>
            <a:off x="8169196" y="2066731"/>
            <a:ext cx="3108391" cy="3867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таблица">
  <p:cSld name="Заголовок и таблица">
    <p:bg>
      <p:bgPr>
        <a:solidFill>
          <a:srgbClr val="F2ECE9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87" name="Google Shape;87;p13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w="19050" cap="flat" cmpd="sng">
            <a:solidFill>
              <a:srgbClr val="DF978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1">
  <p:cSld name="Спасибо 1">
    <p:bg>
      <p:bgPr>
        <a:solidFill>
          <a:srgbClr val="3F636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896628" y="0"/>
            <a:ext cx="0" cy="6858000"/>
          </a:xfrm>
          <a:prstGeom prst="straightConnector1">
            <a:avLst/>
          </a:prstGeom>
          <a:noFill/>
          <a:ln w="19050" cap="flat" cmpd="sng">
            <a:solidFill>
              <a:srgbClr val="F2ECE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3" name="Google Shape;93;p14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6282286" y="690465"/>
            <a:ext cx="4784372" cy="5253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sz="3600"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2" name="Объект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 rtl="0"/>
            <a:r>
              <a:rPr lang="ru-RU" noProof="0" dirty="0"/>
              <a:t>Щелкните, чтобы добавить содержимое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/>
          <a:p>
            <a:pPr rtl="0"/>
            <a:fld id="{18D65601-5AE2-46FC-B138-694DDD2B510D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5880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75707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75707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xfrm>
            <a:off x="1189796" y="3197738"/>
            <a:ext cx="9910824" cy="85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ru-RU" sz="4400" dirty="0"/>
              <a:t>Исследование и разработка методов машинного обучения в задаче обнаружения нештатной работы оборудования</a:t>
            </a:r>
            <a:endParaRPr sz="4400" dirty="0"/>
          </a:p>
        </p:txBody>
      </p:sp>
      <p:sp>
        <p:nvSpPr>
          <p:cNvPr id="102" name="Google Shape;102;p15"/>
          <p:cNvSpPr/>
          <p:nvPr/>
        </p:nvSpPr>
        <p:spPr>
          <a:xfrm>
            <a:off x="7325032" y="4687979"/>
            <a:ext cx="6096000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Студент 4 курса ВМК МГУ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i="1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Воробьев Андрей Андреевич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Научный руководитель: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к.ф.-м.н.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i="1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Царёв Дмитрий Владимирович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1450152" y="0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/>
              <a:t>Введение</a:t>
            </a:r>
            <a:endParaRPr sz="2700" dirty="0"/>
          </a:p>
        </p:txBody>
      </p:sp>
      <p:sp>
        <p:nvSpPr>
          <p:cNvPr id="109" name="Google Shape;109;p16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r>
              <a:rPr lang="ru-RU" dirty="0"/>
              <a:t>/24</a:t>
            </a:r>
          </a:p>
        </p:txBody>
      </p:sp>
      <p:sp>
        <p:nvSpPr>
          <p:cNvPr id="110" name="Google Shape;110;p16"/>
          <p:cNvSpPr/>
          <p:nvPr/>
        </p:nvSpPr>
        <p:spPr>
          <a:xfrm>
            <a:off x="1381118" y="1109608"/>
            <a:ext cx="9219709" cy="525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indent="-285750">
              <a:spcBef>
                <a:spcPts val="120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Стремительный рост рынка </a:t>
            </a:r>
            <a:r>
              <a:rPr lang="ru-RU" sz="1600" dirty="0" err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IoT</a:t>
            </a: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Объем рынка интернета вещей увеличится с $64.8 млрд в 2024 году до $356.2 млрд к 2034 году — рост более чем в 5.5 раз</a:t>
            </a:r>
          </a:p>
          <a:p>
            <a:pPr marL="285750" indent="-285750">
              <a:spcBef>
                <a:spcPts val="120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16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[Gartner]</a:t>
            </a:r>
            <a:r>
              <a:rPr lang="ru-RU" sz="1600" b="1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ru-RU" sz="16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Ключевая фаза ускорения придется на 2026–2028 годы благодаря массовому внедрению 5G, росту инвестиций в </a:t>
            </a:r>
            <a:r>
              <a:rPr lang="ru-RU" sz="1600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IoT</a:t>
            </a:r>
            <a:r>
              <a:rPr lang="ru-RU" sz="16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‑инфраструктуру и появлению приложений, изначально разработанных с использованием </a:t>
            </a:r>
            <a:r>
              <a:rPr lang="ru-RU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ИИ</a:t>
            </a:r>
            <a:r>
              <a:rPr lang="ru-RU" sz="16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</a:p>
          <a:p>
            <a:pPr marL="285750" marR="0" lvl="0" indent="-2857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С развитием Интернета вещей датчики</a:t>
            </a:r>
            <a:endParaRPr lang="en-US" sz="1600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285750" marR="0" lvl="0" indent="-285750" algn="l" rtl="0">
              <a:spcAft>
                <a:spcPts val="0"/>
              </a:spcAft>
              <a:buClr>
                <a:schemeClr val="dk1"/>
              </a:buClr>
              <a:buSzPts val="2000"/>
              <a:buFont typeface="Open Sans Light" panose="020B0306030504020204" pitchFamily="34" charset="0"/>
              <a:buChar char="﻿"/>
            </a:pP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становятся все менее дорогостоящими и</a:t>
            </a:r>
            <a:endParaRPr lang="en-US" sz="1600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285750" marR="0" lvl="0" indent="-285750" algn="l" rtl="0">
              <a:spcAft>
                <a:spcPts val="0"/>
              </a:spcAft>
              <a:buClr>
                <a:schemeClr val="dk1"/>
              </a:buClr>
              <a:buSzPts val="2000"/>
              <a:buFont typeface="Open Sans Light" panose="020B0306030504020204" pitchFamily="34" charset="0"/>
              <a:buChar char="﻿"/>
            </a:pP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более доступными, что значительно упрощает</a:t>
            </a:r>
            <a:endParaRPr lang="en-US" sz="1600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285750" marR="0" lvl="0" indent="-285750" algn="l" rtl="0">
              <a:spcAft>
                <a:spcPts val="0"/>
              </a:spcAft>
              <a:buClr>
                <a:schemeClr val="dk1"/>
              </a:buClr>
              <a:buSzPts val="2000"/>
              <a:buFont typeface="Open Sans Light" panose="020B0306030504020204" pitchFamily="34" charset="0"/>
              <a:buChar char="﻿"/>
            </a:pP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сбор</a:t>
            </a:r>
            <a:r>
              <a:rPr lang="en-US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данных о различных характеристиках</a:t>
            </a:r>
            <a:endParaRPr lang="en-US" sz="1600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285750" marR="0" lvl="0" indent="-285750" algn="l" rtl="0">
              <a:spcAft>
                <a:spcPts val="0"/>
              </a:spcAft>
              <a:buClr>
                <a:schemeClr val="dk1"/>
              </a:buClr>
              <a:buSzPts val="2000"/>
              <a:buFont typeface="Open Sans Light" panose="020B0306030504020204" pitchFamily="34" charset="0"/>
              <a:buChar char="﻿"/>
            </a:pP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работы</a:t>
            </a:r>
            <a:r>
              <a:rPr lang="en-US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оборудования (температура,</a:t>
            </a:r>
            <a:endParaRPr lang="en-US" sz="1600" dirty="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285750" marR="0" lvl="0" indent="-285750" algn="l" rtl="0">
              <a:spcAft>
                <a:spcPts val="0"/>
              </a:spcAft>
              <a:buClr>
                <a:schemeClr val="dk1"/>
              </a:buClr>
              <a:buSzPts val="2000"/>
              <a:buFont typeface="Open Sans Light" panose="020B0306030504020204" pitchFamily="34" charset="0"/>
              <a:buChar char="﻿"/>
            </a:pP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потребление</a:t>
            </a:r>
            <a:r>
              <a:rPr lang="en-US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энергии, </a:t>
            </a:r>
            <a:r>
              <a:rPr lang="en-US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CO2</a:t>
            </a: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, освещенность и т. д.)</a:t>
            </a:r>
            <a:endParaRPr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C1E8FA-0116-4EE8-B449-EED1C83D5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478" y="2904869"/>
            <a:ext cx="4726658" cy="23106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1E9FD7-A4CA-444C-96B4-A7B126D8509D}"/>
              </a:ext>
            </a:extLst>
          </p:cNvPr>
          <p:cNvSpPr txBox="1"/>
          <p:nvPr/>
        </p:nvSpPr>
        <p:spPr>
          <a:xfrm>
            <a:off x="6674478" y="5164691"/>
            <a:ext cx="4726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Динамика роста мирового рынка </a:t>
            </a:r>
            <a:r>
              <a:rPr lang="ru-RU" sz="1200" dirty="0" err="1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IoT</a:t>
            </a:r>
            <a:r>
              <a:rPr lang="ru-RU" sz="1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, 2024-2034</a:t>
            </a:r>
            <a:r>
              <a:rPr lang="en-US" sz="1200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[1]</a:t>
            </a:r>
            <a:endParaRPr lang="ru-RU" sz="1200" dirty="0"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2B4EE0-B816-48FB-9297-5E814D43E18C}"/>
              </a:ext>
            </a:extLst>
          </p:cNvPr>
          <p:cNvSpPr txBox="1"/>
          <p:nvPr/>
        </p:nvSpPr>
        <p:spPr>
          <a:xfrm>
            <a:off x="1450152" y="6379837"/>
            <a:ext cx="97907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sz="1100" b="0" i="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[1] Internet of Things (IoT) Market — Industry Size, Share, Trends and Forecast. Precedence Research.</a:t>
            </a:r>
          </a:p>
        </p:txBody>
      </p:sp>
    </p:spTree>
    <p:extLst>
      <p:ext uri="{BB962C8B-B14F-4D97-AF65-F5344CB8AC3E}">
        <p14:creationId xmlns:p14="http://schemas.microsoft.com/office/powerpoint/2010/main" val="2093277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1450152" y="0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/>
              <a:t>Введение</a:t>
            </a:r>
            <a:endParaRPr sz="2700" dirty="0"/>
          </a:p>
        </p:txBody>
      </p:sp>
      <p:sp>
        <p:nvSpPr>
          <p:cNvPr id="109" name="Google Shape;109;p16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r>
              <a:rPr lang="ru-RU" dirty="0"/>
              <a:t>/24</a:t>
            </a:r>
          </a:p>
        </p:txBody>
      </p:sp>
      <p:sp>
        <p:nvSpPr>
          <p:cNvPr id="110" name="Google Shape;110;p16"/>
          <p:cNvSpPr/>
          <p:nvPr/>
        </p:nvSpPr>
        <p:spPr>
          <a:xfrm>
            <a:off x="1381119" y="1127556"/>
            <a:ext cx="9262908" cy="5252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Поведение оборудования - временной ряд изменения характеристик работы оборудования</a:t>
            </a:r>
          </a:p>
          <a:p>
            <a:pPr marL="285750" indent="-285750">
              <a:spcBef>
                <a:spcPts val="120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Исследуемый подход заключается в определении временных участков аномального поведения оборудования с датчиков</a:t>
            </a:r>
          </a:p>
          <a:p>
            <a:pPr marL="285750" indent="-285750">
              <a:spcBef>
                <a:spcPts val="120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В исследованиях по </a:t>
            </a:r>
            <a:r>
              <a:rPr lang="ru-RU" sz="1600" dirty="0" err="1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IoT</a:t>
            </a: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часто анализируют </a:t>
            </a:r>
            <a:r>
              <a:rPr lang="ru-RU" sz="1600" u="sng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энергопотребление</a:t>
            </a: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и </a:t>
            </a:r>
            <a:r>
              <a:rPr lang="ru-RU" sz="1600" u="sng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параметры микроклимата</a:t>
            </a:r>
          </a:p>
          <a:p>
            <a:pPr marL="285750" lvl="3" indent="-285750">
              <a:spcBef>
                <a:spcPts val="120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В работе будут рассматриваться характеристики микроклимата (температура, потребление энергии, </a:t>
            </a:r>
            <a:r>
              <a:rPr lang="en-US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CO2</a:t>
            </a: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, освещенность и влажность)</a:t>
            </a:r>
          </a:p>
          <a:p>
            <a:pPr marL="285750" indent="-285750">
              <a:spcBef>
                <a:spcPts val="120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600" b="1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В работе исследуется </a:t>
            </a: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оборудование, которое относится к </a:t>
            </a:r>
            <a:r>
              <a:rPr lang="ru-RU" sz="1600" b="1" u="sng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ОВК</a:t>
            </a:r>
            <a:r>
              <a:rPr lang="ru-RU" sz="1600" dirty="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(отопление, вентиляция и кондиционирование), примеры – тепловые завесы, вентиляционные установки и кондиционеры</a:t>
            </a:r>
          </a:p>
        </p:txBody>
      </p:sp>
    </p:spTree>
    <p:extLst>
      <p:ext uri="{BB962C8B-B14F-4D97-AF65-F5344CB8AC3E}">
        <p14:creationId xmlns:p14="http://schemas.microsoft.com/office/powerpoint/2010/main" val="3298715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1450152" y="0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/>
              <a:t>Введение</a:t>
            </a:r>
            <a:endParaRPr sz="2700" dirty="0"/>
          </a:p>
        </p:txBody>
      </p:sp>
      <p:sp>
        <p:nvSpPr>
          <p:cNvPr id="109" name="Google Shape;109;p16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r>
              <a:rPr lang="ru-RU" dirty="0"/>
              <a:t>/24</a:t>
            </a:r>
          </a:p>
        </p:txBody>
      </p:sp>
      <p:sp>
        <p:nvSpPr>
          <p:cNvPr id="110" name="Google Shape;110;p16"/>
          <p:cNvSpPr/>
          <p:nvPr/>
        </p:nvSpPr>
        <p:spPr>
          <a:xfrm>
            <a:off x="1381118" y="1191244"/>
            <a:ext cx="9219709" cy="518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indent="-2304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Целью работы является разработать подход к выявлению</a:t>
            </a:r>
            <a:r>
              <a:rPr lang="en-US" sz="1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r>
              <a:rPr lang="ru-RU" sz="1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неисправностей в работе </a:t>
            </a:r>
            <a:r>
              <a:rPr lang="ru-RU" sz="1800" b="1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ОВК</a:t>
            </a:r>
            <a:r>
              <a:rPr lang="ru-RU" sz="1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оборудования на основе анализа данных с датчика микроклимата</a:t>
            </a:r>
            <a:endParaRPr lang="ru-RU" sz="1800" dirty="0">
              <a:solidFill>
                <a:schemeClr val="dk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  <a:sym typeface="Open Sans Light"/>
            </a:endParaRPr>
          </a:p>
          <a:p>
            <a:pPr marL="230400" indent="-2304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ru-RU" sz="1800" dirty="0">
              <a:solidFill>
                <a:schemeClr val="dk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  <a:sym typeface="Open Sans Light"/>
            </a:endParaRPr>
          </a:p>
          <a:p>
            <a:pPr marL="230400" indent="-2304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ru-RU" sz="1800" dirty="0">
              <a:solidFill>
                <a:schemeClr val="dk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  <a:sym typeface="Open Sans Light"/>
            </a:endParaRPr>
          </a:p>
          <a:p>
            <a:pPr>
              <a:spcBef>
                <a:spcPts val="1200"/>
              </a:spcBef>
            </a:pPr>
            <a:endParaRPr lang="ru-RU" sz="1800" dirty="0">
              <a:solidFill>
                <a:schemeClr val="dk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  <a:sym typeface="Open Sans Light"/>
            </a:endParaRPr>
          </a:p>
          <a:p>
            <a:pPr>
              <a:spcBef>
                <a:spcPts val="1200"/>
              </a:spcBef>
            </a:pPr>
            <a:endParaRPr lang="ru-RU" sz="2000" dirty="0"/>
          </a:p>
          <a:p>
            <a:pPr>
              <a:spcBef>
                <a:spcPts val="1200"/>
              </a:spcBef>
            </a:pPr>
            <a:endParaRPr lang="en-US" sz="100" dirty="0"/>
          </a:p>
          <a:p>
            <a:pPr>
              <a:spcBef>
                <a:spcPts val="600"/>
              </a:spcBef>
            </a:pPr>
            <a:endParaRPr lang="ru-RU" sz="2000" dirty="0"/>
          </a:p>
          <a:p>
            <a:pPr>
              <a:spcBef>
                <a:spcPts val="600"/>
              </a:spcBef>
            </a:pPr>
            <a:r>
              <a:rPr lang="ru-RU" sz="2000" dirty="0"/>
              <a:t>Актуальность задачи обнаружения аномального поведения оборудования</a:t>
            </a:r>
            <a:r>
              <a:rPr lang="en-US" sz="2000" dirty="0"/>
              <a:t>:</a:t>
            </a:r>
            <a:endParaRPr lang="ru-RU" sz="2000" dirty="0"/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Light"/>
              </a:rPr>
              <a:t>Раннее обнаружение нештатной работы оборудования (может предотвратить более серьезную поломку)</a:t>
            </a:r>
            <a:endParaRPr lang="ru-RU" sz="1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Light"/>
              </a:rPr>
              <a:t>Уменьшение временных затрат на устранение нештатных ситуаций</a:t>
            </a:r>
            <a:endParaRPr lang="ru-RU" sz="18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342900" marR="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  <a:sym typeface="Open Sans Light"/>
              </a:rPr>
              <a:t>Предотвращение снижения качества предоставляемых услуг</a:t>
            </a:r>
          </a:p>
          <a:p>
            <a:pPr marL="230400" indent="-2304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ru-RU" sz="1800" dirty="0">
              <a:solidFill>
                <a:schemeClr val="dk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  <a:sym typeface="Open Sans Light"/>
            </a:endParaRPr>
          </a:p>
          <a:p>
            <a:pPr marL="230400" indent="-2304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ru-RU" sz="1800" dirty="0">
              <a:solidFill>
                <a:schemeClr val="dk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  <a:sym typeface="Open Sans Ligh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3F8746-9664-4EF5-B50B-5A887563D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118" y="2011205"/>
            <a:ext cx="9535740" cy="17745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2C28FC-A4B3-4CB2-90E5-757B9293F463}"/>
              </a:ext>
            </a:extLst>
          </p:cNvPr>
          <p:cNvSpPr txBox="1"/>
          <p:nvPr/>
        </p:nvSpPr>
        <p:spPr>
          <a:xfrm>
            <a:off x="1450152" y="3743100"/>
            <a:ext cx="9535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b="1" dirty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Временной ряд поведения кондиционера, описываемый температурой внутри него</a:t>
            </a:r>
          </a:p>
        </p:txBody>
      </p:sp>
    </p:spTree>
    <p:extLst>
      <p:ext uri="{BB962C8B-B14F-4D97-AF65-F5344CB8AC3E}">
        <p14:creationId xmlns:p14="http://schemas.microsoft.com/office/powerpoint/2010/main" val="1607875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/>
              <a:t>Постановка задачи</a:t>
            </a:r>
            <a:endParaRPr sz="4000" dirty="0"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1450153" y="1992778"/>
            <a:ext cx="8552264" cy="411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2286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800" dirty="0"/>
              <a:t>Исследовать и разработать модели представления поведения работы оборудования по данным с датчиков микроклимата</a:t>
            </a:r>
            <a:endParaRPr lang="ru-RU" dirty="0"/>
          </a:p>
          <a:p>
            <a:pPr marL="2286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800" dirty="0"/>
              <a:t>Исследовать и разработать методы машинного обучения для обнаружения аномального поведения работы оборудования</a:t>
            </a:r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r>
              <a:rPr lang="ru-RU" dirty="0"/>
              <a:t>/24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/>
              <a:t>Обзор</a:t>
            </a:r>
            <a:endParaRPr sz="4000" dirty="0"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1450153" y="1624230"/>
            <a:ext cx="9984984" cy="441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buClr>
                <a:schemeClr val="dk1"/>
              </a:buClr>
              <a:buSzPts val="2000"/>
              <a:buNone/>
            </a:pPr>
            <a:r>
              <a:rPr lang="ru-RU" sz="1800" b="1" u="sng" dirty="0"/>
              <a:t>Цели обзора</a:t>
            </a:r>
            <a:endParaRPr sz="1800" b="1" u="sng" dirty="0"/>
          </a:p>
          <a:p>
            <a:pPr marL="228600" lvl="0" indent="-228600" algn="l" rtl="0">
              <a:lnSpc>
                <a:spcPct val="100000"/>
              </a:lnSpc>
              <a:spcBef>
                <a:spcPts val="30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800" dirty="0"/>
              <a:t>Выбор существующих методов поиска аномалий во временных рядах</a:t>
            </a:r>
            <a:endParaRPr sz="1800" dirty="0"/>
          </a:p>
          <a:p>
            <a:pPr marL="228600" lvl="0" indent="-228600" algn="l" rtl="0">
              <a:lnSpc>
                <a:spcPct val="100000"/>
              </a:lnSpc>
              <a:spcBef>
                <a:spcPts val="300"/>
              </a:spcBef>
              <a:buClr>
                <a:schemeClr val="dk1"/>
              </a:buClr>
              <a:buSzPts val="2000"/>
              <a:buFont typeface="Arial"/>
              <a:buChar char="•"/>
            </a:pPr>
            <a:r>
              <a:rPr lang="ru-RU" sz="1800" dirty="0"/>
              <a:t>Выбор наборов данных для экспериментальных исследований</a:t>
            </a:r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buClr>
                <a:schemeClr val="dk1"/>
              </a:buClr>
              <a:buSzPts val="2000"/>
              <a:buNone/>
            </a:pPr>
            <a:endParaRPr lang="ru-RU" sz="1800" dirty="0"/>
          </a:p>
          <a:p>
            <a:pPr marL="0" lvl="0" indent="0" algn="l" rtl="0">
              <a:lnSpc>
                <a:spcPct val="100000"/>
              </a:lnSpc>
              <a:spcBef>
                <a:spcPts val="300"/>
              </a:spcBef>
              <a:buClr>
                <a:schemeClr val="dk1"/>
              </a:buClr>
              <a:buSzPts val="2000"/>
              <a:buNone/>
            </a:pPr>
            <a:r>
              <a:rPr lang="ru-RU" sz="1800" b="1" u="sng" dirty="0"/>
              <a:t>Классификация а</a:t>
            </a:r>
            <a:r>
              <a:rPr lang="ru-RU" sz="1800" b="1" u="sng" dirty="0">
                <a:effectLst/>
              </a:rPr>
              <a:t>лгоритмов обнаружения аномалий</a:t>
            </a:r>
            <a:endParaRPr lang="en-US" sz="1800" b="1" u="sng" dirty="0"/>
          </a:p>
          <a:p>
            <a:pPr marL="342900" indent="-342900">
              <a:spcBef>
                <a:spcPts val="300"/>
              </a:spcBef>
            </a:pPr>
            <a:r>
              <a:rPr lang="ru-RU" sz="1800" b="1" dirty="0">
                <a:effectLst/>
              </a:rPr>
              <a:t>Обучение без учителя (</a:t>
            </a:r>
            <a:r>
              <a:rPr lang="en-US" sz="1800" b="1" dirty="0">
                <a:effectLst/>
              </a:rPr>
              <a:t>Unsupervised</a:t>
            </a:r>
            <a:r>
              <a:rPr lang="ru-RU" sz="1800" b="1" dirty="0">
                <a:effectLst/>
              </a:rPr>
              <a:t>)</a:t>
            </a:r>
            <a:r>
              <a:rPr lang="en-US" sz="1800" dirty="0">
                <a:effectLst/>
              </a:rPr>
              <a:t> </a:t>
            </a:r>
            <a:r>
              <a:rPr lang="ru-RU" sz="1800" dirty="0">
                <a:effectLst/>
              </a:rPr>
              <a:t>—</a:t>
            </a:r>
            <a:r>
              <a:rPr lang="en-US" sz="1800" dirty="0">
                <a:effectLst/>
              </a:rPr>
              <a:t> </a:t>
            </a:r>
            <a:r>
              <a:rPr lang="ru-RU" sz="1800" dirty="0">
                <a:effectLst/>
              </a:rPr>
              <a:t>не требуют размеченных данных, ищут аномалии по внутренним закономерностям ряда</a:t>
            </a:r>
            <a:endParaRPr lang="en-US" sz="1800" dirty="0">
              <a:effectLst/>
            </a:endParaRPr>
          </a:p>
          <a:p>
            <a:pPr marL="342900" indent="-342900">
              <a:spcBef>
                <a:spcPts val="300"/>
              </a:spcBef>
            </a:pPr>
            <a:r>
              <a:rPr lang="ru-RU" sz="1800" b="1" dirty="0"/>
              <a:t>Обучение с учителем (</a:t>
            </a:r>
            <a:r>
              <a:rPr lang="ru-RU" sz="1800" b="1" dirty="0" err="1">
                <a:effectLst/>
              </a:rPr>
              <a:t>Supervised</a:t>
            </a:r>
            <a:r>
              <a:rPr lang="ru-RU" sz="1800" b="1" dirty="0">
                <a:effectLst/>
              </a:rPr>
              <a:t>)</a:t>
            </a:r>
            <a:r>
              <a:rPr lang="ru-RU" sz="1800" dirty="0">
                <a:effectLst/>
              </a:rPr>
              <a:t> — используют размеченные обучающие примеры аномалия/норма</a:t>
            </a:r>
            <a:endParaRPr lang="en-US" sz="1800" dirty="0">
              <a:effectLst/>
            </a:endParaRPr>
          </a:p>
          <a:p>
            <a:pPr marL="342900" indent="-342900">
              <a:spcBef>
                <a:spcPts val="300"/>
              </a:spcBef>
            </a:pPr>
            <a:r>
              <a:rPr lang="ru-RU" sz="1800" b="1" dirty="0">
                <a:effectLst/>
              </a:rPr>
              <a:t>Обучение с частичным привлечением учителя (</a:t>
            </a:r>
            <a:r>
              <a:rPr lang="ru-RU" sz="1800" b="1" dirty="0" err="1">
                <a:effectLst/>
              </a:rPr>
              <a:t>Semi-supervised</a:t>
            </a:r>
            <a:r>
              <a:rPr lang="ru-RU" sz="1800" b="1" dirty="0">
                <a:effectLst/>
              </a:rPr>
              <a:t>)</a:t>
            </a:r>
            <a:r>
              <a:rPr lang="ru-RU" sz="1800" dirty="0">
                <a:effectLst/>
              </a:rPr>
              <a:t> — обучаются только на «норме», а аномалии определяют по отклонениям</a:t>
            </a:r>
          </a:p>
          <a:p>
            <a:pPr marL="0" indent="0">
              <a:spcBef>
                <a:spcPts val="300"/>
              </a:spcBef>
              <a:buNone/>
            </a:pPr>
            <a:endParaRPr lang="ru-RU" sz="1800" dirty="0"/>
          </a:p>
          <a:p>
            <a:pPr marL="0" indent="0">
              <a:spcBef>
                <a:spcPts val="300"/>
              </a:spcBef>
              <a:buNone/>
            </a:pPr>
            <a:r>
              <a:rPr lang="ru-RU" sz="1800" dirty="0"/>
              <a:t>Мы рассматриваем </a:t>
            </a:r>
            <a:r>
              <a:rPr lang="ru-RU" sz="1800" dirty="0">
                <a:effectLst/>
              </a:rPr>
              <a:t>только </a:t>
            </a:r>
            <a:r>
              <a:rPr lang="ru-RU" sz="1800" dirty="0" err="1">
                <a:effectLst/>
              </a:rPr>
              <a:t>unsupervised</a:t>
            </a:r>
            <a:r>
              <a:rPr lang="ru-RU" sz="1800" dirty="0">
                <a:effectLst/>
              </a:rPr>
              <a:t> и </a:t>
            </a:r>
            <a:r>
              <a:rPr lang="ru-RU" sz="1800" dirty="0" err="1">
                <a:effectLst/>
              </a:rPr>
              <a:t>semi-supervised</a:t>
            </a:r>
            <a:r>
              <a:rPr lang="ru-RU" sz="1800" dirty="0">
                <a:effectLst/>
              </a:rPr>
              <a:t> методы, так как для задач </a:t>
            </a:r>
            <a:r>
              <a:rPr lang="ru-RU" sz="1800" dirty="0" err="1">
                <a:effectLst/>
              </a:rPr>
              <a:t>IoT</a:t>
            </a:r>
            <a:r>
              <a:rPr lang="ru-RU" sz="1800" dirty="0">
                <a:effectLst/>
              </a:rPr>
              <a:t> обычно нет размеченных данных.</a:t>
            </a:r>
            <a:endParaRPr lang="ru-RU" sz="1800" dirty="0"/>
          </a:p>
          <a:p>
            <a:pPr marL="0" indent="0">
              <a:spcBef>
                <a:spcPts val="300"/>
              </a:spcBef>
              <a:buNone/>
            </a:pPr>
            <a:r>
              <a:rPr lang="ru-RU" sz="1800" dirty="0">
                <a:effectLst/>
              </a:rPr>
              <a:t>	</a:t>
            </a:r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r>
              <a:rPr lang="ru-RU" dirty="0"/>
              <a:t>/24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>
                <a:effectLst/>
              </a:rPr>
              <a:t>Обучение без учителя (</a:t>
            </a:r>
            <a:r>
              <a:rPr lang="en-US" sz="4000" b="1" dirty="0">
                <a:effectLst/>
              </a:rPr>
              <a:t>Unsupervised</a:t>
            </a:r>
            <a:r>
              <a:rPr lang="ru-RU" sz="4000" b="1" dirty="0">
                <a:effectLst/>
              </a:rPr>
              <a:t>)</a:t>
            </a:r>
            <a:endParaRPr sz="4000" dirty="0"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1450153" y="1494890"/>
            <a:ext cx="7109056" cy="472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101600" indent="0">
              <a:spcBef>
                <a:spcPts val="300"/>
              </a:spcBef>
              <a:buNone/>
            </a:pPr>
            <a:r>
              <a:rPr lang="ru-RU" sz="1800" b="1" dirty="0">
                <a:latin typeface="+mn-lt"/>
              </a:rPr>
              <a:t>Методы </a:t>
            </a:r>
            <a:r>
              <a:rPr lang="ru-RU" sz="1800" b="1" dirty="0">
                <a:effectLst/>
              </a:rPr>
              <a:t>прогнозирования временных ряд</a:t>
            </a:r>
            <a:r>
              <a:rPr lang="ru-RU" sz="1800" b="1" dirty="0"/>
              <a:t>ов:</a:t>
            </a:r>
          </a:p>
          <a:p>
            <a:pPr marL="101600" indent="0">
              <a:spcBef>
                <a:spcPts val="300"/>
              </a:spcBef>
              <a:buNone/>
            </a:pPr>
            <a:endParaRPr lang="ru-RU" sz="1100" b="1" dirty="0">
              <a:latin typeface="+mn-lt"/>
            </a:endParaRPr>
          </a:p>
          <a:p>
            <a:pPr marL="101600" indent="0">
              <a:spcBef>
                <a:spcPts val="300"/>
              </a:spcBef>
              <a:buNone/>
            </a:pPr>
            <a:r>
              <a:rPr lang="en-US" sz="1800" b="1" dirty="0">
                <a:latin typeface="+mn-lt"/>
              </a:rPr>
              <a:t>ETS</a:t>
            </a:r>
            <a:r>
              <a:rPr lang="ru-RU" sz="1800" b="1" dirty="0">
                <a:latin typeface="+mn-lt"/>
              </a:rPr>
              <a:t> (</a:t>
            </a:r>
            <a:r>
              <a:rPr lang="en-US" sz="1800" b="1" dirty="0">
                <a:latin typeface="+mn-lt"/>
              </a:rPr>
              <a:t>Exponential smoothing</a:t>
            </a:r>
            <a:r>
              <a:rPr lang="ru-RU" sz="1800" b="1" dirty="0">
                <a:latin typeface="+mn-lt"/>
              </a:rPr>
              <a:t>)</a:t>
            </a:r>
            <a:r>
              <a:rPr lang="en-US" sz="1800" b="1" dirty="0">
                <a:latin typeface="+mn-lt"/>
              </a:rPr>
              <a:t> [2]</a:t>
            </a:r>
            <a:r>
              <a:rPr lang="ru-RU" sz="1800" b="1" dirty="0">
                <a:latin typeface="+mn-lt"/>
              </a:rPr>
              <a:t> </a:t>
            </a:r>
            <a:endParaRPr lang="en-US" sz="1800" b="1" dirty="0">
              <a:latin typeface="+mn-lt"/>
            </a:endParaRPr>
          </a:p>
          <a:p>
            <a:pPr>
              <a:spcBef>
                <a:spcPts val="300"/>
              </a:spcBef>
            </a:pPr>
            <a:r>
              <a:rPr lang="ru-RU" sz="1600" dirty="0">
                <a:effectLst/>
              </a:rPr>
              <a:t>Экспоненциальное взвешивание прошлых значений</a:t>
            </a:r>
          </a:p>
          <a:p>
            <a:pPr marL="101600" indent="0">
              <a:spcBef>
                <a:spcPts val="300"/>
              </a:spcBef>
              <a:buNone/>
            </a:pPr>
            <a:r>
              <a:rPr lang="ru-RU" sz="1600" dirty="0"/>
              <a:t>При сезонности и тренде применяется </a:t>
            </a:r>
            <a:r>
              <a:rPr lang="en-US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Holt-Winters ETS</a:t>
            </a:r>
            <a:r>
              <a:rPr lang="ru-RU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</a:t>
            </a:r>
            <a:endParaRPr lang="ru-RU" sz="1600" dirty="0"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101600" indent="0">
              <a:spcBef>
                <a:spcPts val="300"/>
              </a:spcBef>
              <a:buNone/>
            </a:pPr>
            <a:endParaRPr lang="en-US" sz="1600" dirty="0">
              <a:effectLst/>
            </a:endParaRPr>
          </a:p>
          <a:p>
            <a:pPr marL="101600" indent="0">
              <a:spcBef>
                <a:spcPts val="300"/>
              </a:spcBef>
              <a:buNone/>
            </a:pPr>
            <a:r>
              <a:rPr lang="en-US" sz="1800" b="1" dirty="0">
                <a:latin typeface="+mn-lt"/>
              </a:rPr>
              <a:t>ARIMA </a:t>
            </a:r>
            <a:r>
              <a:rPr lang="ru-RU" sz="1800" b="1" dirty="0">
                <a:latin typeface="+mn-lt"/>
              </a:rPr>
              <a:t>(</a:t>
            </a:r>
            <a:r>
              <a:rPr lang="ru-RU" sz="1800" b="1" dirty="0" err="1">
                <a:latin typeface="+mn-lt"/>
              </a:rPr>
              <a:t>AutoRegressive</a:t>
            </a:r>
            <a:r>
              <a:rPr lang="ru-RU" sz="1800" b="1" dirty="0">
                <a:latin typeface="+mn-lt"/>
              </a:rPr>
              <a:t> Integrated </a:t>
            </a:r>
            <a:r>
              <a:rPr lang="ru-RU" sz="1800" b="1" dirty="0" err="1">
                <a:latin typeface="+mn-lt"/>
              </a:rPr>
              <a:t>Moving</a:t>
            </a:r>
            <a:r>
              <a:rPr lang="ru-RU" sz="1800" b="1" dirty="0">
                <a:latin typeface="+mn-lt"/>
              </a:rPr>
              <a:t> </a:t>
            </a:r>
            <a:r>
              <a:rPr lang="ru-RU" sz="1800" b="1" dirty="0" err="1">
                <a:latin typeface="+mn-lt"/>
              </a:rPr>
              <a:t>Average</a:t>
            </a:r>
            <a:r>
              <a:rPr lang="ru-RU" sz="1800" b="1" dirty="0">
                <a:latin typeface="+mn-lt"/>
              </a:rPr>
              <a:t>)</a:t>
            </a:r>
            <a:r>
              <a:rPr lang="ru-RU" sz="1800" dirty="0">
                <a:latin typeface="+mn-lt"/>
              </a:rPr>
              <a:t> </a:t>
            </a:r>
            <a:r>
              <a:rPr lang="ru-RU" sz="1800" dirty="0">
                <a:latin typeface="+mj-lt"/>
              </a:rPr>
              <a:t> </a:t>
            </a:r>
            <a:r>
              <a:rPr lang="en-US" sz="1800" b="1" dirty="0">
                <a:latin typeface="+mn-lt"/>
              </a:rPr>
              <a:t>[3]</a:t>
            </a:r>
          </a:p>
          <a:p>
            <a:pPr marL="101600" indent="0">
              <a:spcBef>
                <a:spcPts val="300"/>
              </a:spcBef>
              <a:buNone/>
            </a:pPr>
            <a:r>
              <a:rPr lang="en-US" sz="1600" b="1" dirty="0"/>
              <a:t>	</a:t>
            </a:r>
            <a:r>
              <a:rPr lang="ru-RU" sz="1600" dirty="0">
                <a:effectLst/>
              </a:rPr>
              <a:t>Модель ARIMA(p, d, q):</a:t>
            </a:r>
          </a:p>
          <a:p>
            <a:pPr>
              <a:spcBef>
                <a:spcPts val="300"/>
              </a:spcBef>
            </a:pPr>
            <a:r>
              <a:rPr lang="ru-RU" sz="1600" dirty="0">
                <a:effectLst/>
              </a:rPr>
              <a:t>p — порядок </a:t>
            </a:r>
            <a:r>
              <a:rPr lang="ru-RU" sz="1600" dirty="0" err="1">
                <a:effectLst/>
              </a:rPr>
              <a:t>авторрегрессии</a:t>
            </a:r>
            <a:r>
              <a:rPr lang="ru-RU" sz="1600" dirty="0">
                <a:effectLst/>
              </a:rPr>
              <a:t>: зависимость текущего значения от предыдущих</a:t>
            </a:r>
          </a:p>
          <a:p>
            <a:pPr>
              <a:spcBef>
                <a:spcPts val="300"/>
              </a:spcBef>
            </a:pPr>
            <a:r>
              <a:rPr lang="ru-RU" sz="1600" dirty="0">
                <a:effectLst/>
              </a:rPr>
              <a:t>d — порядок дифференцирования: число разностей для устранения тренда</a:t>
            </a:r>
          </a:p>
          <a:p>
            <a:pPr>
              <a:spcBef>
                <a:spcPts val="300"/>
              </a:spcBef>
            </a:pPr>
            <a:r>
              <a:rPr lang="ru-RU" sz="1600" dirty="0">
                <a:effectLst/>
              </a:rPr>
              <a:t>q — порядок скользящего среднего: влияние прошлых ошибок прогноза</a:t>
            </a:r>
            <a:endParaRPr lang="ru-RU" sz="1400" dirty="0"/>
          </a:p>
          <a:p>
            <a:pPr marL="101600" indent="0">
              <a:spcBef>
                <a:spcPts val="300"/>
              </a:spcBef>
              <a:buNone/>
            </a:pPr>
            <a:r>
              <a:rPr lang="ru-RU" sz="1600" dirty="0"/>
              <a:t>П</a:t>
            </a:r>
            <a:r>
              <a:rPr lang="ru-RU" sz="1600" dirty="0">
                <a:effectLst/>
              </a:rPr>
              <a:t>ри ярко выраженной сезонности применяется SARIMA</a:t>
            </a:r>
          </a:p>
          <a:p>
            <a:pPr marL="101600" indent="0">
              <a:spcBef>
                <a:spcPts val="300"/>
              </a:spcBef>
              <a:buNone/>
            </a:pPr>
            <a:endParaRPr lang="ru-RU" sz="1800" dirty="0">
              <a:effectLst/>
            </a:endParaRPr>
          </a:p>
          <a:p>
            <a:pPr marL="101600" indent="0">
              <a:spcBef>
                <a:spcPts val="300"/>
              </a:spcBef>
              <a:buNone/>
            </a:pPr>
            <a:r>
              <a:rPr lang="en-US" sz="1800" b="1" dirty="0">
                <a:latin typeface="+mn-lt"/>
              </a:rPr>
              <a:t>Matrix Profile [4]</a:t>
            </a:r>
          </a:p>
          <a:p>
            <a:pPr>
              <a:spcBef>
                <a:spcPts val="300"/>
              </a:spcBef>
            </a:pPr>
            <a:r>
              <a:rPr lang="ru-RU" sz="1600" dirty="0">
                <a:effectLst/>
              </a:rPr>
              <a:t>Сравнение </a:t>
            </a:r>
            <a:r>
              <a:rPr lang="ru-RU" sz="1600" dirty="0" err="1">
                <a:effectLst/>
              </a:rPr>
              <a:t>подпоследовательностей</a:t>
            </a:r>
            <a:r>
              <a:rPr lang="ru-RU" sz="1600" dirty="0">
                <a:effectLst/>
              </a:rPr>
              <a:t> временного ряда между собой</a:t>
            </a:r>
          </a:p>
          <a:p>
            <a:pPr>
              <a:spcBef>
                <a:spcPts val="300"/>
              </a:spcBef>
            </a:pPr>
            <a:r>
              <a:rPr lang="ru-RU" sz="1600" dirty="0">
                <a:effectLst/>
              </a:rPr>
              <a:t>Высокие значения профиля соответствуют аномальным участкам</a:t>
            </a:r>
            <a:endParaRPr lang="ru-RU" sz="1800" dirty="0"/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r>
              <a:rPr lang="ru-RU" dirty="0"/>
              <a:t>/24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0EB980-A90E-41B7-846B-B4D0291D95F3}"/>
              </a:ext>
            </a:extLst>
          </p:cNvPr>
          <p:cNvSpPr txBox="1"/>
          <p:nvPr/>
        </p:nvSpPr>
        <p:spPr>
          <a:xfrm>
            <a:off x="1263182" y="5970249"/>
            <a:ext cx="947866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0" i="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[2] </a:t>
            </a:r>
            <a:r>
              <a:rPr lang="en-US" sz="900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Zangrando</a:t>
            </a:r>
            <a:r>
              <a:rPr lang="en-US" sz="9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N., Gallo I., Carminati M., et al. Anomaly detection in quasi-periodic energy consumption data series: a comparison of algorithms // Energy Informatics. 2022. DOI: 10.1186/s42162-022-00230-7.</a:t>
            </a:r>
            <a:r>
              <a:rPr lang="en-US" sz="9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[3] </a:t>
            </a:r>
            <a:r>
              <a:rPr lang="en-US" sz="900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Aurna</a:t>
            </a:r>
            <a:r>
              <a:rPr lang="en-US" sz="9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N. F., </a:t>
            </a:r>
            <a:r>
              <a:rPr lang="en-US" sz="900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Yaqin</a:t>
            </a:r>
            <a:r>
              <a:rPr lang="en-US" sz="9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M. A., et al. Time series analysis of electric energy consumption using ARIMA and Holt-Winters // TELKOMNIKA. DOI: 10.12928/telkomnika.v19i3.15303.</a:t>
            </a:r>
            <a:endParaRPr lang="ru-RU" sz="900" dirty="0"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l"/>
            <a:r>
              <a:rPr lang="en-US" sz="9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[4] </a:t>
            </a:r>
            <a:r>
              <a:rPr lang="en-US" sz="9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Yeh C.-C. M., Zhu Y., Ulanova L., Begum N., Ding Y., </a:t>
            </a:r>
            <a:r>
              <a:rPr lang="en-US" sz="900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Dau</a:t>
            </a:r>
            <a:r>
              <a:rPr lang="en-US" sz="9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H. A., Silva D. F., </a:t>
            </a:r>
            <a:r>
              <a:rPr lang="en-US" sz="900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Mueen</a:t>
            </a:r>
            <a:r>
              <a:rPr lang="en-US" sz="9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A., Keogh E. J. Matrix Profile I: All Pairs Similarity Joins for Time Series: A Unifying View That Includes Motifs, Discords and </a:t>
            </a:r>
            <a:r>
              <a:rPr lang="en-US" sz="900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Shapelets</a:t>
            </a:r>
            <a:r>
              <a:rPr lang="en-US" sz="9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 // IEEE ICDM. 2016. P. 1317-1322. DOI: 10.1109/ICDM.2016.0179.</a:t>
            </a:r>
            <a:endParaRPr lang="ru-RU" sz="9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1028" name="Picture 4" descr="SAAS Berkeley">
            <a:extLst>
              <a:ext uri="{FF2B5EF4-FFF2-40B4-BE49-F238E27FC236}">
                <a16:creationId xmlns:a16="http://schemas.microsoft.com/office/drawing/2014/main" id="{876AF187-3636-4524-B7B4-3B2885C609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7854"/>
          <a:stretch/>
        </p:blipFill>
        <p:spPr bwMode="auto">
          <a:xfrm>
            <a:off x="8798362" y="3843096"/>
            <a:ext cx="3330395" cy="161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ython - Holt-Winters time series forecasting with statsmodels - Stack  Overflow">
            <a:extLst>
              <a:ext uri="{FF2B5EF4-FFF2-40B4-BE49-F238E27FC236}">
                <a16:creationId xmlns:a16="http://schemas.microsoft.com/office/drawing/2014/main" id="{D72653AF-80E6-4094-A902-B9BC69970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72" y="1053101"/>
            <a:ext cx="4016066" cy="213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45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>
                <a:effectLst/>
              </a:rPr>
              <a:t>Обучение с частичным привлечением учителя (</a:t>
            </a:r>
            <a:r>
              <a:rPr lang="ru-RU" sz="4000" b="1" dirty="0" err="1">
                <a:effectLst/>
              </a:rPr>
              <a:t>Semi-supervised</a:t>
            </a:r>
            <a:r>
              <a:rPr lang="ru-RU" sz="4000" b="1" dirty="0">
                <a:effectLst/>
              </a:rPr>
              <a:t>)</a:t>
            </a:r>
            <a:endParaRPr sz="4000" dirty="0"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1450153" y="1453793"/>
            <a:ext cx="8552264" cy="473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101600" indent="0">
              <a:spcBef>
                <a:spcPts val="600"/>
              </a:spcBef>
              <a:buNone/>
            </a:pPr>
            <a:r>
              <a:rPr lang="en-US" sz="1800" b="1" dirty="0">
                <a:latin typeface="+mn-lt"/>
              </a:rPr>
              <a:t>SR CNN [5]</a:t>
            </a:r>
            <a:endParaRPr lang="ru-RU" sz="1800" b="1" dirty="0">
              <a:latin typeface="+mn-lt"/>
            </a:endParaRPr>
          </a:p>
          <a:p>
            <a:pPr>
              <a:spcBef>
                <a:spcPts val="600"/>
              </a:spcBef>
            </a:pPr>
            <a:r>
              <a:rPr lang="ru-RU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Спектральный остаток из Фурье-спектра подавляет регулярные компоненты и выделяет неожиданности</a:t>
            </a:r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Выявляет выбросы и изменения распределения</a:t>
            </a:r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Подходит для онлайн-мониторинга</a:t>
            </a:r>
          </a:p>
          <a:p>
            <a:pPr marL="101600" indent="0">
              <a:spcBef>
                <a:spcPts val="600"/>
              </a:spcBef>
              <a:buNone/>
            </a:pPr>
            <a:r>
              <a:rPr lang="en-US" sz="1800" b="1" dirty="0" err="1">
                <a:latin typeface="+mn-lt"/>
              </a:rPr>
              <a:t>XGBoost</a:t>
            </a:r>
            <a:r>
              <a:rPr lang="en-US" sz="1800" b="1" dirty="0">
                <a:latin typeface="+mn-lt"/>
              </a:rPr>
              <a:t> [6]</a:t>
            </a:r>
            <a:endParaRPr lang="ru-RU" sz="1800" b="1" dirty="0">
              <a:latin typeface="+mn-lt"/>
            </a:endParaRPr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Градиентный </a:t>
            </a:r>
            <a:r>
              <a:rPr lang="ru-RU" sz="1600" dirty="0" err="1">
                <a:effectLst/>
              </a:rPr>
              <a:t>бустинг</a:t>
            </a:r>
            <a:r>
              <a:rPr lang="ru-RU" sz="1600" dirty="0">
                <a:effectLst/>
              </a:rPr>
              <a:t> по деревьям</a:t>
            </a:r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Признаки из временных окон и лагов</a:t>
            </a:r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Быстрый, интерпретируемый, подходит для потокового мониторинга</a:t>
            </a:r>
          </a:p>
          <a:p>
            <a:pPr marL="101600" indent="0">
              <a:spcBef>
                <a:spcPts val="600"/>
              </a:spcBef>
              <a:buNone/>
            </a:pPr>
            <a:r>
              <a:rPr lang="en-US" sz="1800" b="1" dirty="0" err="1">
                <a:latin typeface="+mn-lt"/>
              </a:rPr>
              <a:t>CatBoost</a:t>
            </a:r>
            <a:r>
              <a:rPr lang="ru-RU" sz="1800" b="1" dirty="0">
                <a:latin typeface="+mn-lt"/>
              </a:rPr>
              <a:t> </a:t>
            </a:r>
            <a:r>
              <a:rPr lang="en-US" sz="1800" b="1" dirty="0">
                <a:latin typeface="+mn-lt"/>
              </a:rPr>
              <a:t>[7]</a:t>
            </a:r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Регрессия на признаках из окон и лагов</a:t>
            </a:r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Устойчив к пропускам и категориальным признакам</a:t>
            </a:r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Интерпретируемость через важности признаков</a:t>
            </a:r>
            <a:endParaRPr lang="ru-RU" sz="1800" dirty="0">
              <a:effectLst/>
            </a:endParaRPr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r>
              <a:rPr lang="ru-RU" dirty="0"/>
              <a:t>/24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7A4A9D-3572-452B-948D-B5ABBB90D9ED}"/>
              </a:ext>
            </a:extLst>
          </p:cNvPr>
          <p:cNvSpPr txBox="1"/>
          <p:nvPr/>
        </p:nvSpPr>
        <p:spPr>
          <a:xfrm>
            <a:off x="1334886" y="5845997"/>
            <a:ext cx="98228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i="0" u="none" strike="noStrike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[</a:t>
            </a:r>
            <a:r>
              <a:rPr lang="en-US" sz="1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5</a:t>
            </a:r>
            <a:r>
              <a:rPr lang="en-US" sz="1000" i="0" u="none" strike="noStrike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] Ren H., Xu B., Wang Y., Yi C., Huang C., Kou X., Xing T., Yang M., Tong J., Zhang Q. Time-Series Anomaly Detection Service at Microsoft // Proceedings of the ACM SIGKDD International Conference on Knowledge Discovery and Data Mining. 2019. P. 3009–3017. doi:10.1145/3292500.3330680.</a:t>
            </a:r>
          </a:p>
          <a:p>
            <a:pPr algn="l"/>
            <a:r>
              <a:rPr lang="en-US" sz="1000" i="0" u="none" strike="noStrike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[6] </a:t>
            </a:r>
            <a:r>
              <a:rPr lang="en-US" sz="10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Chakraborty D., </a:t>
            </a:r>
            <a:r>
              <a:rPr lang="en-US" sz="1000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Elzarka</a:t>
            </a:r>
            <a:r>
              <a:rPr lang="en-US" sz="10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H. Early detection of faults in HVAC systems using an </a:t>
            </a:r>
            <a:r>
              <a:rPr lang="en-US" sz="1000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XGBoost</a:t>
            </a:r>
            <a:r>
              <a:rPr lang="en-US" sz="10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model with a dynamic threshold // Energy and Buildings. 2019. Vol. 185. P. 326-344. DOI: 10.1016/j.enbuild.2018.12.03</a:t>
            </a:r>
            <a:endParaRPr lang="ru-RU" sz="1000" dirty="0"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algn="l"/>
            <a:r>
              <a:rPr lang="en-US" sz="1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[7] </a:t>
            </a:r>
            <a:r>
              <a:rPr lang="en-US" sz="10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 novel feature engineered-</a:t>
            </a:r>
            <a:r>
              <a:rPr lang="en-US" sz="1000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CatBoost</a:t>
            </a:r>
            <a:r>
              <a:rPr lang="en-US" sz="100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-based supervised machine learning framework for electricity theft detection // Energy Reports. 2021. DOI: 10.1016/j.egyr.2021.07.008.</a:t>
            </a:r>
            <a:endParaRPr lang="ru-RU" sz="1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405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b="1" dirty="0">
                <a:effectLst/>
              </a:rPr>
              <a:t>Модели представления временных рядов</a:t>
            </a:r>
            <a:endParaRPr lang="ru-RU" b="1" dirty="0"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1450153" y="1624230"/>
            <a:ext cx="9984984" cy="441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spcBef>
                <a:spcPts val="1200"/>
              </a:spcBef>
            </a:pPr>
            <a:r>
              <a:rPr lang="ru-RU" sz="1600" b="1" dirty="0">
                <a:effectLst/>
              </a:rPr>
              <a:t>Скользящие окна</a:t>
            </a:r>
            <a:r>
              <a:rPr lang="ru-RU" sz="1600" dirty="0">
                <a:effectLst/>
              </a:rPr>
              <a:t>: разбиваем ряд на перекрывающиеся окна фиксированной длины и шага. По ним формируем входы и цели, сводя прогноз к задаче обучения с учителем</a:t>
            </a:r>
          </a:p>
          <a:p>
            <a:pPr marL="285750" indent="-285750">
              <a:spcBef>
                <a:spcPts val="1200"/>
              </a:spcBef>
            </a:pPr>
            <a:r>
              <a:rPr lang="ru-RU" sz="1600" b="1" dirty="0">
                <a:effectLst/>
              </a:rPr>
              <a:t>Статистические признаки</a:t>
            </a:r>
            <a:r>
              <a:rPr lang="ru-RU" sz="1600" dirty="0">
                <a:effectLst/>
              </a:rPr>
              <a:t>: агрегируем окно в показатели (среднее, дисперсия, минимум/максимум, медиана/квантили, асимметрия, автокорреляции) для компактного описания поведения ряда</a:t>
            </a:r>
          </a:p>
          <a:p>
            <a:pPr marL="285750" indent="-285750">
              <a:spcBef>
                <a:spcPts val="1200"/>
              </a:spcBef>
            </a:pPr>
            <a:r>
              <a:rPr lang="ru-RU" sz="1600" b="1" dirty="0"/>
              <a:t>Циклическое кодирование </a:t>
            </a:r>
            <a:r>
              <a:rPr lang="ru-RU" sz="1600" b="1" dirty="0" err="1"/>
              <a:t>sin</a:t>
            </a:r>
            <a:r>
              <a:rPr lang="ru-RU" sz="1600" b="1" dirty="0"/>
              <a:t>/</a:t>
            </a:r>
            <a:r>
              <a:rPr lang="ru-RU" sz="1600" b="1" dirty="0" err="1"/>
              <a:t>cos</a:t>
            </a:r>
            <a:r>
              <a:rPr lang="ru-RU" sz="1600" b="1" dirty="0"/>
              <a:t>:</a:t>
            </a:r>
            <a:r>
              <a:rPr lang="ru-RU" sz="1600" dirty="0"/>
              <a:t> преобразуем время суток и день недели в пары признаков, сохраняя близость соседних моментов на границе цикла.</a:t>
            </a:r>
          </a:p>
          <a:p>
            <a:pPr marL="285750" indent="-285750">
              <a:spcBef>
                <a:spcPts val="1200"/>
              </a:spcBef>
            </a:pPr>
            <a:r>
              <a:rPr lang="ru-RU" sz="1600" b="1" dirty="0"/>
              <a:t>Спектральное представление:</a:t>
            </a:r>
            <a:r>
              <a:rPr lang="ru-RU" sz="1600" dirty="0"/>
              <a:t> </a:t>
            </a:r>
            <a:r>
              <a:rPr lang="ru-RU" sz="1600" dirty="0" err="1"/>
              <a:t>Spectral</a:t>
            </a:r>
            <a:r>
              <a:rPr lang="ru-RU" sz="1600" dirty="0"/>
              <a:t> </a:t>
            </a:r>
            <a:r>
              <a:rPr lang="ru-RU" sz="1600" dirty="0" err="1"/>
              <a:t>Residual</a:t>
            </a:r>
            <a:r>
              <a:rPr lang="ru-RU" sz="1600" dirty="0"/>
              <a:t> с помощью преобразования Фурье выделяет неожиданные изменения</a:t>
            </a:r>
            <a:endParaRPr lang="ru-RU" sz="1600" b="1" dirty="0"/>
          </a:p>
          <a:p>
            <a:pPr marL="0" indent="0">
              <a:spcBef>
                <a:spcPts val="1200"/>
              </a:spcBef>
              <a:buNone/>
            </a:pPr>
            <a:endParaRPr lang="ru-RU" sz="1600" dirty="0">
              <a:effectLst/>
            </a:endParaRPr>
          </a:p>
        </p:txBody>
      </p:sp>
      <p:sp>
        <p:nvSpPr>
          <p:cNvPr id="136" name="Google Shape;136;p19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r>
              <a:rPr lang="ru-RU" dirty="0"/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655712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97139F-FF96-46ED-87E0-36FA7A797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+mj-lt"/>
              </a:rPr>
              <a:t>Наборы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2A7DEA-ABE5-4745-A403-13843F1E1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6493" y="2093311"/>
            <a:ext cx="8552264" cy="4119463"/>
          </a:xfrm>
        </p:spPr>
        <p:txBody>
          <a:bodyPr/>
          <a:lstStyle/>
          <a:p>
            <a:pPr marL="101600" indent="0">
              <a:buNone/>
            </a:pPr>
            <a:endParaRPr lang="ru-RU" dirty="0"/>
          </a:p>
          <a:p>
            <a:pPr marL="101600" indent="0">
              <a:buNone/>
            </a:pPr>
            <a:endParaRPr lang="ru-RU" dirty="0"/>
          </a:p>
          <a:p>
            <a:pPr marL="101600" indent="0">
              <a:buNone/>
            </a:pPr>
            <a:endParaRPr lang="ru-RU" dirty="0"/>
          </a:p>
          <a:p>
            <a:pPr marL="101600" indent="0">
              <a:buNone/>
            </a:pPr>
            <a:endParaRPr lang="ru-RU" dirty="0"/>
          </a:p>
          <a:p>
            <a:pPr marL="101600" indent="0">
              <a:buNone/>
            </a:pPr>
            <a:endParaRPr lang="ru-RU" dirty="0"/>
          </a:p>
          <a:p>
            <a:pPr marL="101600" indent="0">
              <a:buNone/>
            </a:pPr>
            <a:endParaRPr lang="ru-RU" dirty="0"/>
          </a:p>
          <a:p>
            <a:pPr marL="101600" indent="0">
              <a:buNone/>
            </a:pPr>
            <a:endParaRPr lang="ru-RU" dirty="0"/>
          </a:p>
          <a:p>
            <a:pPr marL="101600" indent="0">
              <a:buNone/>
            </a:pPr>
            <a:endParaRPr lang="ru-RU" dirty="0"/>
          </a:p>
          <a:p>
            <a:pPr marL="101600" indent="0">
              <a:buNone/>
            </a:pPr>
            <a:endParaRPr lang="ru-RU" sz="1800" dirty="0"/>
          </a:p>
          <a:p>
            <a:pPr marL="101600" indent="0">
              <a:buNone/>
            </a:pPr>
            <a:r>
              <a:rPr lang="ru-RU" sz="1800" dirty="0"/>
              <a:t>В дальнейших экспериментах используем набор данных IQDS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114A45-F779-4A59-8F3B-FD4329ADA5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r>
              <a:rPr lang="ru-RU" dirty="0"/>
              <a:t>/24</a:t>
            </a: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7709F044-BE10-4F5B-9C90-AB5F9973F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45648"/>
              </p:ext>
            </p:extLst>
          </p:nvPr>
        </p:nvGraphicFramePr>
        <p:xfrm>
          <a:off x="1464178" y="1644487"/>
          <a:ext cx="8555511" cy="2958335"/>
        </p:xfrm>
        <a:graphic>
          <a:graphicData uri="http://schemas.openxmlformats.org/drawingml/2006/table">
            <a:tbl>
              <a:tblPr firstRow="1" bandRow="1">
                <a:tableStyleId>{198C5A6F-419A-424B-BF4D-7BF6FD84BE88}</a:tableStyleId>
              </a:tblPr>
              <a:tblGrid>
                <a:gridCol w="1716743">
                  <a:extLst>
                    <a:ext uri="{9D8B030D-6E8A-4147-A177-3AD203B41FA5}">
                      <a16:colId xmlns:a16="http://schemas.microsoft.com/office/drawing/2014/main" val="2373244385"/>
                    </a:ext>
                  </a:extLst>
                </a:gridCol>
                <a:gridCol w="1709692">
                  <a:extLst>
                    <a:ext uri="{9D8B030D-6E8A-4147-A177-3AD203B41FA5}">
                      <a16:colId xmlns:a16="http://schemas.microsoft.com/office/drawing/2014/main" val="31588005"/>
                    </a:ext>
                  </a:extLst>
                </a:gridCol>
                <a:gridCol w="1709692">
                  <a:extLst>
                    <a:ext uri="{9D8B030D-6E8A-4147-A177-3AD203B41FA5}">
                      <a16:colId xmlns:a16="http://schemas.microsoft.com/office/drawing/2014/main" val="653429087"/>
                    </a:ext>
                  </a:extLst>
                </a:gridCol>
                <a:gridCol w="1709692">
                  <a:extLst>
                    <a:ext uri="{9D8B030D-6E8A-4147-A177-3AD203B41FA5}">
                      <a16:colId xmlns:a16="http://schemas.microsoft.com/office/drawing/2014/main" val="1090885005"/>
                    </a:ext>
                  </a:extLst>
                </a:gridCol>
                <a:gridCol w="1709692">
                  <a:extLst>
                    <a:ext uri="{9D8B030D-6E8A-4147-A177-3AD203B41FA5}">
                      <a16:colId xmlns:a16="http://schemas.microsoft.com/office/drawing/2014/main" val="2326030047"/>
                    </a:ext>
                  </a:extLst>
                </a:gridCol>
              </a:tblGrid>
              <a:tr h="768163">
                <a:tc>
                  <a:txBody>
                    <a:bodyPr/>
                    <a:lstStyle/>
                    <a:p>
                      <a:r>
                        <a:rPr lang="ru-RU" sz="1600" dirty="0"/>
                        <a:t>Набор данных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Оборудование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Количество датчиков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Число записей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Частота измерений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61003"/>
                  </a:ext>
                </a:extLst>
              </a:tr>
              <a:tr h="549764">
                <a:tc>
                  <a:txBody>
                    <a:bodyPr/>
                    <a:lstStyle/>
                    <a:p>
                      <a:r>
                        <a:rPr lang="en-US" sz="1600" dirty="0"/>
                        <a:t>IQDS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Кондиционер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426639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 мин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839715"/>
                  </a:ext>
                </a:extLst>
              </a:tr>
              <a:tr h="901702">
                <a:tc>
                  <a:txBody>
                    <a:bodyPr/>
                    <a:lstStyle/>
                    <a:p>
                      <a:r>
                        <a:rPr lang="en-US" sz="1600" dirty="0"/>
                        <a:t>NAB</a:t>
                      </a:r>
                      <a:r>
                        <a:rPr lang="ru-RU" sz="1600" dirty="0"/>
                        <a:t> </a:t>
                      </a:r>
                      <a:r>
                        <a:rPr lang="en-US" sz="1600" dirty="0"/>
                        <a:t>[7]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Промышленная машина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 </a:t>
                      </a:r>
                      <a:r>
                        <a:rPr lang="ru-RU" sz="1600" dirty="0"/>
                        <a:t>час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645746"/>
                  </a:ext>
                </a:extLst>
              </a:tr>
              <a:tr h="738706">
                <a:tc>
                  <a:txBody>
                    <a:bodyPr/>
                    <a:lstStyle/>
                    <a:p>
                      <a:r>
                        <a:rPr lang="en-US" sz="1600" dirty="0">
                          <a:effectLst/>
                        </a:rPr>
                        <a:t>NASA-MSL [8]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Марсоход </a:t>
                      </a:r>
                      <a:r>
                        <a:rPr lang="en-US" sz="1600" dirty="0">
                          <a:effectLst/>
                        </a:rPr>
                        <a:t>Curiosity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73710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/>
                        <a:t>1 сек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40024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B7A8977-9E3F-4C88-9606-4DDCF4C4693A}"/>
              </a:ext>
            </a:extLst>
          </p:cNvPr>
          <p:cNvSpPr txBox="1"/>
          <p:nvPr/>
        </p:nvSpPr>
        <p:spPr>
          <a:xfrm>
            <a:off x="1320801" y="6108138"/>
            <a:ext cx="9842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[7] </a:t>
            </a:r>
            <a:r>
              <a:rPr lang="en-US" sz="1000" b="0" i="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Ahmad S., Lavin A., Purdy S., Agha Z. Unsupervised real-time anomaly detection for streaming data // Neurocomputing. 2017. Vol. 262. P. 134–147. doi:10.1016/j.neucom.2017.04.070.</a:t>
            </a:r>
          </a:p>
          <a:p>
            <a:r>
              <a:rPr lang="en-US" sz="10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[8] </a:t>
            </a:r>
            <a:r>
              <a:rPr lang="en-US" sz="1000" b="0" i="0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Hundman</a:t>
            </a:r>
            <a:r>
              <a:rPr lang="en-US" sz="1000" b="0" i="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K., Constantinou V., Laporte C., Colwell I., </a:t>
            </a:r>
            <a:r>
              <a:rPr lang="en-US" sz="1000" b="0" i="0" dirty="0" err="1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Soderstrom</a:t>
            </a:r>
            <a:r>
              <a:rPr lang="en-US" sz="1000" b="0" i="0" dirty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 T. Detecting Spacecraft Anomalies Using LSTMs and Nonparametric Dynamic Thresholding // Proceedings of the ACM SIGKDD International Conference on Knowledge Discovery and Data Mining. 2018. P. 387–395. doi:10.1145/3219819.3219845.</a:t>
            </a:r>
            <a:endParaRPr lang="ru-RU" sz="1000" dirty="0"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981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/>
              <a:t>Выводы обзора</a:t>
            </a:r>
            <a:endParaRPr sz="4000" dirty="0"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1450153" y="1992778"/>
            <a:ext cx="8552264" cy="411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101600" indent="0">
              <a:spcBef>
                <a:spcPts val="600"/>
              </a:spcBef>
              <a:buNone/>
            </a:pPr>
            <a:r>
              <a:rPr lang="ru-RU" sz="1600" dirty="0"/>
              <a:t>Выбранные методы для сравнения: </a:t>
            </a:r>
          </a:p>
          <a:p>
            <a:pPr>
              <a:spcBef>
                <a:spcPts val="600"/>
              </a:spcBef>
            </a:pPr>
            <a:r>
              <a:rPr lang="ru-RU" sz="1600" dirty="0"/>
              <a:t>Обучение без учителя (</a:t>
            </a:r>
            <a:r>
              <a:rPr lang="en-US" sz="1600" dirty="0"/>
              <a:t>Unsupervised</a:t>
            </a:r>
            <a:r>
              <a:rPr lang="ru-RU" sz="1600" dirty="0"/>
              <a:t>)</a:t>
            </a:r>
            <a:r>
              <a:rPr lang="en-US" sz="1600" dirty="0"/>
              <a:t>: ARIMA, Holt-Winters ETS, Matrix Profile.</a:t>
            </a:r>
            <a:endParaRPr lang="ru-RU" sz="1600" dirty="0"/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Обучение с частичным привлечением учителя (</a:t>
            </a:r>
            <a:r>
              <a:rPr lang="en-US" sz="1600" dirty="0"/>
              <a:t>Semi-supervised</a:t>
            </a:r>
            <a:r>
              <a:rPr lang="ru-RU" sz="1600" dirty="0"/>
              <a:t>)</a:t>
            </a:r>
            <a:r>
              <a:rPr lang="en-US" sz="1600" dirty="0"/>
              <a:t>: SR CNN</a:t>
            </a:r>
            <a:r>
              <a:rPr lang="ru-RU" sz="1600" dirty="0"/>
              <a:t>, </a:t>
            </a:r>
            <a:r>
              <a:rPr lang="en-US" sz="1600" dirty="0" err="1"/>
              <a:t>XGBoost</a:t>
            </a:r>
            <a:r>
              <a:rPr lang="ru-RU" sz="1600" dirty="0"/>
              <a:t>, </a:t>
            </a:r>
            <a:r>
              <a:rPr lang="en-US" sz="1600" dirty="0" err="1"/>
              <a:t>CatBoost</a:t>
            </a:r>
            <a:r>
              <a:rPr lang="en-US" sz="1600" dirty="0"/>
              <a:t>.</a:t>
            </a:r>
          </a:p>
          <a:p>
            <a:pPr marL="101600" indent="0">
              <a:spcBef>
                <a:spcPts val="600"/>
              </a:spcBef>
              <a:buNone/>
            </a:pPr>
            <a:r>
              <a:rPr lang="ru-RU" sz="1600" dirty="0"/>
              <a:t>Выбраны наборы данных </a:t>
            </a:r>
            <a:r>
              <a:rPr lang="ru-RU" sz="1600" dirty="0">
                <a:effectLst/>
              </a:rPr>
              <a:t>— </a:t>
            </a:r>
            <a:r>
              <a:rPr lang="en-US" sz="1600" dirty="0">
                <a:effectLst/>
              </a:rPr>
              <a:t>IQD</a:t>
            </a:r>
            <a:r>
              <a:rPr lang="en-US" sz="1600" dirty="0"/>
              <a:t>S</a:t>
            </a:r>
          </a:p>
          <a:p>
            <a:pPr marL="101600" indent="0">
              <a:spcBef>
                <a:spcPts val="600"/>
              </a:spcBef>
              <a:buNone/>
            </a:pPr>
            <a:r>
              <a:rPr lang="ru-RU" sz="1600" dirty="0">
                <a:effectLst/>
              </a:rPr>
              <a:t>Критерии оценки и метрики:</a:t>
            </a:r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ROC AUC </a:t>
            </a:r>
            <a:r>
              <a:rPr lang="ru-RU" sz="1600" dirty="0"/>
              <a:t>-</a:t>
            </a:r>
            <a:r>
              <a:rPr lang="ru-RU" sz="1600" dirty="0">
                <a:effectLst/>
              </a:rPr>
              <a:t> площадь под ROC-кривой, оценивает качество бинарной классификации</a:t>
            </a:r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AUC-PR (Area </a:t>
            </a:r>
            <a:r>
              <a:rPr lang="ru-RU" sz="1600" dirty="0" err="1">
                <a:effectLst/>
              </a:rPr>
              <a:t>Under</a:t>
            </a:r>
            <a:r>
              <a:rPr lang="ru-RU" sz="1600" dirty="0">
                <a:effectLst/>
              </a:rPr>
              <a:t> Precision-</a:t>
            </a:r>
            <a:r>
              <a:rPr lang="ru-RU" sz="1600" dirty="0" err="1">
                <a:effectLst/>
              </a:rPr>
              <a:t>Recall</a:t>
            </a:r>
            <a:r>
              <a:rPr lang="ru-RU" sz="1600" dirty="0">
                <a:effectLst/>
              </a:rPr>
              <a:t> </a:t>
            </a:r>
            <a:r>
              <a:rPr lang="ru-RU" sz="1600" dirty="0" err="1">
                <a:effectLst/>
              </a:rPr>
              <a:t>Curve</a:t>
            </a:r>
            <a:r>
              <a:rPr lang="ru-RU" sz="1600" dirty="0">
                <a:effectLst/>
              </a:rPr>
              <a:t>) - баланс точности и полноты, особенно полезна на несбалансированных данных</a:t>
            </a:r>
            <a:endParaRPr lang="en-US" sz="1600" dirty="0">
              <a:effectLst/>
            </a:endParaRPr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Precision - доля истинных аномалий среди всех срабатываний алгоритма</a:t>
            </a:r>
          </a:p>
          <a:p>
            <a:pPr>
              <a:spcBef>
                <a:spcPts val="600"/>
              </a:spcBef>
            </a:pPr>
            <a:r>
              <a:rPr lang="ru-RU" sz="1600" dirty="0" err="1">
                <a:effectLst/>
              </a:rPr>
              <a:t>Recall</a:t>
            </a:r>
            <a:r>
              <a:rPr lang="ru-RU" sz="1600" dirty="0">
                <a:effectLst/>
              </a:rPr>
              <a:t> - доля найденных аномалий среди всех истинных аномалий</a:t>
            </a:r>
            <a:endParaRPr lang="ru-RU" sz="1600" dirty="0"/>
          </a:p>
          <a:p>
            <a:pPr>
              <a:spcBef>
                <a:spcPts val="600"/>
              </a:spcBef>
            </a:pPr>
            <a:r>
              <a:rPr lang="ru-RU" sz="1600" dirty="0">
                <a:effectLst/>
              </a:rPr>
              <a:t>F1 - гармоническое среднее Precision и </a:t>
            </a:r>
            <a:r>
              <a:rPr lang="ru-RU" sz="1600" dirty="0" err="1">
                <a:effectLst/>
              </a:rPr>
              <a:t>Recall</a:t>
            </a:r>
            <a:r>
              <a:rPr lang="ru-RU" sz="1600" dirty="0">
                <a:effectLst/>
              </a:rPr>
              <a:t>, единая метрика баланса качества детектирования</a:t>
            </a:r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r>
              <a:rPr lang="ru-RU" dirty="0"/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886769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/>
              <a:t>Исследование и построение решения</a:t>
            </a:r>
            <a:endParaRPr sz="4000" dirty="0"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1450153" y="1992778"/>
            <a:ext cx="8552264" cy="411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101600" indent="0">
              <a:spcBef>
                <a:spcPts val="600"/>
              </a:spcBef>
              <a:buNone/>
            </a:pPr>
            <a:r>
              <a:rPr lang="ru-RU" sz="1800" b="1" dirty="0"/>
              <a:t>Подзадачи:</a:t>
            </a:r>
          </a:p>
          <a:p>
            <a:pPr>
              <a:spcBef>
                <a:spcPts val="600"/>
              </a:spcBef>
            </a:pPr>
            <a:r>
              <a:rPr lang="ru-RU" sz="1800" dirty="0"/>
              <a:t>Исследование набора данных: пропущенные значения, сезонность</a:t>
            </a:r>
          </a:p>
          <a:p>
            <a:pPr>
              <a:spcBef>
                <a:spcPts val="600"/>
              </a:spcBef>
            </a:pPr>
            <a:r>
              <a:rPr lang="ru-RU" sz="1800" dirty="0"/>
              <a:t>Исследование моделей представления поведения работы кондиционера</a:t>
            </a:r>
          </a:p>
          <a:p>
            <a:pPr>
              <a:spcBef>
                <a:spcPts val="600"/>
              </a:spcBef>
            </a:pPr>
            <a:r>
              <a:rPr lang="ru-RU" sz="1800" dirty="0"/>
              <a:t>Исследование методов машинного обучения без учителя и с частичным привлечением учителя для обнаружения аномалий</a:t>
            </a:r>
            <a:endParaRPr lang="en-US" sz="1800" dirty="0"/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r>
              <a:rPr lang="ru-RU" dirty="0"/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2515079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/>
              <a:t>Исследование и построение решения</a:t>
            </a:r>
            <a:endParaRPr sz="4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Google Shape;127;p1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450153" y="1674279"/>
                <a:ext cx="8552264" cy="4119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rmAutofit/>
              </a:bodyPr>
              <a:lstStyle/>
              <a:p>
                <a:pPr marL="101600" indent="0">
                  <a:spcBef>
                    <a:spcPts val="600"/>
                  </a:spcBef>
                  <a:buNone/>
                </a:pPr>
                <a:r>
                  <a:rPr lang="ru-RU" sz="1600" b="1" dirty="0"/>
                  <a:t>Особенности набора данных </a:t>
                </a:r>
                <a:r>
                  <a:rPr lang="en-US" sz="1600" b="1" dirty="0"/>
                  <a:t>IQDS:</a:t>
                </a:r>
              </a:p>
              <a:p>
                <a:pPr>
                  <a:spcBef>
                    <a:spcPts val="600"/>
                  </a:spcBef>
                </a:pPr>
                <a:r>
                  <a:rPr lang="ru-RU" sz="1600" dirty="0"/>
                  <a:t>Суточная периодичность и</a:t>
                </a:r>
                <a:r>
                  <a:rPr lang="en-US" sz="1600" dirty="0"/>
                  <a:t> </a:t>
                </a:r>
                <a:r>
                  <a:rPr lang="ru-RU" sz="1600" dirty="0"/>
                  <a:t>более короткие циклы нагрева и охлаждения, связанные с поддержанием оборудованием заданной температуры</a:t>
                </a:r>
              </a:p>
              <a:p>
                <a:pPr>
                  <a:spcBef>
                    <a:spcPts val="600"/>
                  </a:spcBef>
                </a:pPr>
                <a:r>
                  <a:rPr lang="ru-RU" sz="1600" dirty="0"/>
                  <a:t>Дисбаланс разметки: класс «норма» преобладает, но аномалий много (применимость обучения с частичным привлечением учителя)</a:t>
                </a:r>
              </a:p>
              <a:p>
                <a:pPr>
                  <a:spcBef>
                    <a:spcPts val="600"/>
                  </a:spcBef>
                </a:pPr>
                <a:r>
                  <a:rPr lang="ru-RU" sz="1600" dirty="0"/>
                  <a:t>Пропуски измерений (линейная аппроксимация)</a:t>
                </a:r>
              </a:p>
              <a:p>
                <a:pPr marL="101600" indent="0">
                  <a:spcBef>
                    <a:spcPts val="600"/>
                  </a:spcBef>
                  <a:buNone/>
                </a:pPr>
                <a:r>
                  <a:rPr lang="ru-RU" sz="1600" dirty="0"/>
                  <a:t>Поведение оборудования </a:t>
                </a:r>
                <a:r>
                  <a:rPr lang="en-US" sz="1600" dirty="0"/>
                  <a:t>–</a:t>
                </a:r>
                <a:r>
                  <a:rPr lang="ru-RU" sz="1600" dirty="0"/>
                  <a:t> временной ряд</a:t>
                </a:r>
                <a:r>
                  <a:rPr lang="en-US" sz="1600" dirty="0"/>
                  <a:t> </a:t>
                </a:r>
                <a:r>
                  <a:rPr lang="ru-RU" sz="1600" dirty="0"/>
                  <a:t>датчика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</a:t>
                </a:r>
                <a:r>
                  <a:rPr lang="en-US" sz="1600" dirty="0"/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baseline="-250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}</a:t>
                </a:r>
                <a:r>
                  <a:rPr lang="en-US" sz="1600" baseline="-25000" dirty="0"/>
                  <a:t> </a:t>
                </a:r>
                <a14:m>
                  <m:oMath xmlns:m="http://schemas.openxmlformats.org/officeDocument/2006/math">
                    <m:r>
                      <a:rPr lang="en-US" sz="1600" i="1" baseline="-250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∈</a:t>
                </a:r>
                <a:r>
                  <a:rPr lang="en-US" sz="1600" i="1" baseline="-25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baseline="-2500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baseline="-250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∈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/>
                  <a:t>ℚ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⊆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/>
                  <a:t>ℕ</a:t>
                </a:r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ru-RU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ru-RU" sz="1600" dirty="0"/>
                  <a:t>где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dirty="0"/>
                  <a:t> – </a:t>
                </a:r>
                <a:r>
                  <a:rPr lang="ru-RU" sz="1600" dirty="0"/>
                  <a:t>метка времени в </a:t>
                </a:r>
                <a:r>
                  <a:rPr lang="en-US" sz="1600" dirty="0"/>
                  <a:t>Unix-</a:t>
                </a:r>
                <a:r>
                  <a:rPr lang="ru-RU" sz="1600" dirty="0"/>
                  <a:t>формате,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 baseline="-2500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6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dirty="0"/>
                  <a:t>– </a:t>
                </a:r>
                <a:r>
                  <a:rPr lang="ru-RU" sz="1600" dirty="0"/>
                  <a:t>значение температуры в градусах по Цельсию в момент времени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6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101600" indent="0">
                  <a:spcBef>
                    <a:spcPts val="600"/>
                  </a:spcBef>
                  <a:buNone/>
                </a:pPr>
                <a:endParaRPr lang="en-US" sz="1600" dirty="0"/>
              </a:p>
            </p:txBody>
          </p:sp>
        </mc:Choice>
        <mc:Fallback>
          <p:sp>
            <p:nvSpPr>
              <p:cNvPr id="127" name="Google Shape;127;p1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450153" y="1674279"/>
                <a:ext cx="8552264" cy="4119463"/>
              </a:xfrm>
              <a:prstGeom prst="rect">
                <a:avLst/>
              </a:prstGeom>
              <a:blipFill>
                <a:blip r:embed="rId3"/>
                <a:stretch>
                  <a:fillRect l="-49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r>
              <a:rPr lang="ru-RU" dirty="0"/>
              <a:t>/24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B6926D-BEC8-4171-B533-FEF149AB9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751" y="4603293"/>
            <a:ext cx="8499190" cy="187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12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/>
              <a:t>Исследование и построение решения</a:t>
            </a:r>
            <a:endParaRPr sz="4000" dirty="0"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1450154" y="1719241"/>
            <a:ext cx="10290090" cy="477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101600" indent="0">
              <a:lnSpc>
                <a:spcPct val="110000"/>
              </a:lnSpc>
              <a:buNone/>
            </a:pPr>
            <a:r>
              <a:rPr lang="ru-RU" sz="1800" b="1" dirty="0"/>
              <a:t>Модели представления временного ряда:</a:t>
            </a:r>
          </a:p>
          <a:p>
            <a:pPr>
              <a:lnSpc>
                <a:spcPct val="110000"/>
              </a:lnSpc>
            </a:pPr>
            <a:r>
              <a:rPr lang="ru-RU" sz="1800" b="1" dirty="0"/>
              <a:t>Скользящее окно </a:t>
            </a:r>
            <a:r>
              <a:rPr lang="ru-RU" sz="1800" dirty="0"/>
              <a:t>содержит только значения, известные до момента прогноза. При переходе к следующему моменту окно сдвигается, а признаки пересчитываются.</a:t>
            </a:r>
          </a:p>
          <a:p>
            <a:pPr>
              <a:lnSpc>
                <a:spcPct val="110000"/>
              </a:lnSpc>
              <a:buFont typeface="Open Sans Light" panose="020B0306030504020204" pitchFamily="34" charset="0"/>
              <a:buChar char="﻿"/>
            </a:pPr>
            <a:r>
              <a:rPr lang="ru-RU" sz="1800" dirty="0"/>
              <a:t>Окно длины L для прогноза значения x[t]:</a:t>
            </a:r>
            <a:br>
              <a:rPr lang="ru-RU" sz="1800" dirty="0"/>
            </a:br>
            <a:r>
              <a:rPr lang="ru-RU" sz="1800" dirty="0">
                <a:latin typeface="+mn-lt"/>
              </a:rPr>
              <a:t>W(t) = (x[t−L], …, x[t−1])</a:t>
            </a:r>
          </a:p>
          <a:p>
            <a:pPr>
              <a:lnSpc>
                <a:spcPct val="110000"/>
              </a:lnSpc>
              <a:buFont typeface="Open Sans Light" panose="020B0306030504020204" pitchFamily="34" charset="0"/>
              <a:buChar char="﻿"/>
            </a:pPr>
            <a:endParaRPr lang="ru-RU" sz="1800" dirty="0">
              <a:latin typeface="+mn-lt"/>
            </a:endParaRP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800" b="1" dirty="0"/>
              <a:t>Суточные лаги </a:t>
            </a:r>
            <a:r>
              <a:rPr lang="ru-RU" sz="1800" dirty="0"/>
              <a:t>— значения температуры:</a:t>
            </a:r>
            <a:br>
              <a:rPr lang="ru-RU" sz="1800" dirty="0"/>
            </a:br>
            <a:r>
              <a:rPr lang="ru-RU" sz="1800" dirty="0">
                <a:latin typeface="+mn-lt"/>
              </a:rPr>
              <a:t>x[t−s], x[t−2s], x[t−3s]</a:t>
            </a:r>
            <a:r>
              <a:rPr lang="en-US" sz="18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, </a:t>
            </a:r>
            <a:r>
              <a:rPr lang="en-US" sz="1800" dirty="0"/>
              <a:t>s – </a:t>
            </a:r>
            <a:r>
              <a:rPr lang="ru-RU" sz="1800" dirty="0"/>
              <a:t>количество измерений в сутки.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ru-RU" sz="1800" dirty="0"/>
          </a:p>
          <a:p>
            <a:pPr>
              <a:lnSpc>
                <a:spcPct val="110000"/>
              </a:lnSpc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Нормализация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 температура и суточные лаги преобразуются с помощью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RobustScaler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x_norm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 = (x −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median_train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) /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IQR_train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10000"/>
              </a:lnSpc>
            </a:pPr>
            <a:endParaRPr lang="ru-RU" altLang="ru-RU" sz="1800" dirty="0">
              <a:solidFill>
                <a:schemeClr val="tx1"/>
              </a:solidFill>
              <a:latin typeface="+mn-lt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>
              <a:lnSpc>
                <a:spcPct val="110000"/>
              </a:lnSpc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Циклическое кодирование: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sin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/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cos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 время суток m (в минутах) и день недели d представлены парами признаков: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sin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(2πm/1440),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(2πm/1440)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sin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(2πd/7),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cos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rPr>
              <a:t>(2πd/7)</a:t>
            </a:r>
          </a:p>
          <a:p>
            <a:pPr>
              <a:lnSpc>
                <a:spcPct val="110000"/>
              </a:lnSpc>
              <a:buFont typeface="Open Sans Light" panose="020B0306030504020204" pitchFamily="34" charset="0"/>
              <a:buChar char="﻿"/>
            </a:pPr>
            <a:endParaRPr lang="ru-RU" sz="1800" dirty="0"/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r>
              <a:rPr lang="ru-RU" dirty="0"/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1443782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/>
              <a:t>Исследование и построение решения</a:t>
            </a:r>
            <a:endParaRPr sz="4000" dirty="0"/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r>
              <a:rPr lang="ru-RU" dirty="0"/>
              <a:t>/24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DFBEDB-7993-44D5-806C-604303916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50153" y="1478384"/>
            <a:ext cx="939822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Декомпозиция исходного ряда</a:t>
            </a:r>
            <a:r>
              <a:rPr lang="ru-RU" altLang="ru-RU" sz="1600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1600" b="1" dirty="0">
                <a:solidFill>
                  <a:schemeClr val="tx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SR: </a:t>
            </a:r>
            <a:r>
              <a:rPr lang="ru-RU" sz="1600" dirty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Спектральный остаток из Фурье-спектра подавляет регулярные компоненты и выделяет неожиданности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Wavelet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 выделяются сглаженная составляющая суточного окна и энергии деталей разных масштабов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SSA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 ряд восстанавливается по четырем ведущим компонентам; признаками служат восстановленный суточный профиль и ошибка восстановления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STL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: выделяются тренд и суточная сезонность, на основе которых строится признак ожидаемой температуры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8895D3-6767-480F-877A-CB21F981A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378" y="5188856"/>
            <a:ext cx="9781025" cy="127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533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/>
              <a:t>Исследование и построение решения</a:t>
            </a:r>
            <a:endParaRPr sz="4000" dirty="0"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1450154" y="1525712"/>
            <a:ext cx="5059504" cy="4586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spcBef>
                <a:spcPts val="600"/>
              </a:spcBef>
              <a:buNone/>
            </a:pPr>
            <a:r>
              <a:rPr lang="ru-RU" sz="1400" b="1" dirty="0"/>
              <a:t>Методы обучения без учителя:</a:t>
            </a:r>
          </a:p>
          <a:p>
            <a:pPr>
              <a:spcBef>
                <a:spcPts val="600"/>
              </a:spcBef>
            </a:pPr>
            <a:r>
              <a:rPr lang="ru-RU" sz="1400" b="1" dirty="0" err="1"/>
              <a:t>Holt‑Winters</a:t>
            </a:r>
            <a:r>
              <a:rPr lang="ru-RU" sz="1400" b="1" dirty="0"/>
              <a:t> ETS</a:t>
            </a:r>
            <a:r>
              <a:rPr lang="ru-RU" sz="1400" dirty="0"/>
              <a:t>: представление через компоненты уровень, тренд, суточная сезонность</a:t>
            </a:r>
            <a:r>
              <a:rPr lang="en-US" sz="1400" dirty="0"/>
              <a:t>; </a:t>
            </a:r>
            <a:r>
              <a:rPr lang="ru-RU" sz="1400" dirty="0"/>
              <a:t>прогноз строится в режиме скользящего окна: обучается на 21 сутках, предсказывает 1 сутки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ru-RU" sz="1400" b="1" dirty="0"/>
              <a:t>Matrix Profile</a:t>
            </a:r>
            <a:r>
              <a:rPr lang="ru-RU" sz="1400" dirty="0"/>
              <a:t>: ряд представляется как набор перекрывающихся </a:t>
            </a:r>
            <a:r>
              <a:rPr lang="ru-RU" sz="1400" dirty="0" err="1"/>
              <a:t>подпоследовательностей</a:t>
            </a:r>
            <a:r>
              <a:rPr lang="ru-RU" sz="1400" dirty="0"/>
              <a:t> фиксированной длины; для каждой подпоследовательности вычисляется расстояние до ближайшей похожей, аномальными считаются участки с наибольшим значением </a:t>
            </a:r>
            <a:r>
              <a:rPr lang="ru-RU" sz="1400" dirty="0" err="1"/>
              <a:t>profile</a:t>
            </a:r>
            <a:endParaRPr lang="ru-RU" sz="1400" dirty="0"/>
          </a:p>
          <a:p>
            <a:pPr>
              <a:spcBef>
                <a:spcPts val="600"/>
              </a:spcBef>
            </a:pPr>
            <a:r>
              <a:rPr lang="ru-RU" sz="1400" b="1" dirty="0"/>
              <a:t>SARIMA:</a:t>
            </a:r>
            <a:r>
              <a:rPr lang="ru-RU" sz="1400" dirty="0"/>
              <a:t> сезонная модель ежедневно обучается на предыдущих 7 сутках и прогнозирует следующие сутки.</a:t>
            </a:r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r>
              <a:rPr lang="ru-RU" dirty="0"/>
              <a:t>/24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9DB8259-26CC-4048-BC45-245F90608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950" y="4189002"/>
            <a:ext cx="5607621" cy="192323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AAD5FE3-E27D-4771-9851-5F4D04130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364" y="1624230"/>
            <a:ext cx="5646207" cy="192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00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ru-RU" sz="4000" b="1" dirty="0"/>
              <a:t>Исследование и построение решения</a:t>
            </a:r>
            <a:endParaRPr sz="4000" dirty="0"/>
          </a:p>
        </p:txBody>
      </p:sp>
      <p:sp>
        <p:nvSpPr>
          <p:cNvPr id="127" name="Google Shape;127;p18"/>
          <p:cNvSpPr txBox="1">
            <a:spLocks noGrp="1"/>
          </p:cNvSpPr>
          <p:nvPr>
            <p:ph type="body" idx="1"/>
          </p:nvPr>
        </p:nvSpPr>
        <p:spPr>
          <a:xfrm>
            <a:off x="1450154" y="1525712"/>
            <a:ext cx="5337090" cy="4586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1600" indent="0">
              <a:spcBef>
                <a:spcPts val="600"/>
              </a:spcBef>
              <a:buNone/>
            </a:pPr>
            <a:r>
              <a:rPr lang="ru-RU" sz="1400" b="1" dirty="0"/>
              <a:t>Методы обучения с частичным привлечением учителя:</a:t>
            </a:r>
          </a:p>
          <a:p>
            <a:pPr>
              <a:spcBef>
                <a:spcPts val="600"/>
              </a:spcBef>
            </a:pPr>
            <a:r>
              <a:rPr lang="ru-RU" sz="1400" b="1" dirty="0" err="1">
                <a:effectLst/>
              </a:rPr>
              <a:t>CatBoost</a:t>
            </a:r>
            <a:r>
              <a:rPr lang="ru-RU" sz="1400" dirty="0"/>
              <a:t>: </a:t>
            </a:r>
            <a:r>
              <a:rPr lang="ru-RU" sz="1400" dirty="0">
                <a:effectLst/>
              </a:rPr>
              <a:t>табличное представление ряда через суточные лаги (1/2/3 суток назад) и календарные признаки (</a:t>
            </a:r>
            <a:r>
              <a:rPr lang="ru-RU" sz="1400" dirty="0" err="1">
                <a:effectLst/>
              </a:rPr>
              <a:t>hour</a:t>
            </a:r>
            <a:r>
              <a:rPr lang="ru-RU" sz="1400" dirty="0">
                <a:effectLst/>
              </a:rPr>
              <a:t>), обучение выполняется на «нормальном</a:t>
            </a:r>
            <a:r>
              <a:rPr lang="ru-RU" sz="1400" dirty="0"/>
              <a:t>»</a:t>
            </a:r>
            <a:r>
              <a:rPr lang="ru-RU" sz="1400" dirty="0">
                <a:effectLst/>
              </a:rPr>
              <a:t> интервале, далее прогноз считается для всего периода</a:t>
            </a:r>
          </a:p>
          <a:p>
            <a:pPr>
              <a:spcBef>
                <a:spcPts val="600"/>
              </a:spcBef>
            </a:pPr>
            <a:r>
              <a:rPr lang="ru-RU" sz="1400" b="1" dirty="0" err="1"/>
              <a:t>XGBoost</a:t>
            </a:r>
            <a:r>
              <a:rPr lang="ru-RU" sz="1400" b="1" dirty="0"/>
              <a:t>:</a:t>
            </a:r>
            <a:r>
              <a:rPr lang="ru-RU" sz="1400" dirty="0"/>
              <a:t> аналогично прогнозирует нормальную температуру по лагам и </a:t>
            </a:r>
            <a:r>
              <a:rPr lang="ru-RU" sz="1400" dirty="0" err="1"/>
              <a:t>sin</a:t>
            </a:r>
            <a:r>
              <a:rPr lang="ru-RU" sz="1400" dirty="0"/>
              <a:t>/</a:t>
            </a:r>
            <a:r>
              <a:rPr lang="ru-RU" sz="1400" dirty="0" err="1"/>
              <a:t>cos</a:t>
            </a:r>
            <a:r>
              <a:rPr lang="ru-RU" sz="1400" dirty="0"/>
              <a:t>-признакам, используя нормализацию </a:t>
            </a:r>
            <a:r>
              <a:rPr lang="ru-RU" sz="1400" dirty="0" err="1"/>
              <a:t>RobustScaler</a:t>
            </a:r>
            <a:r>
              <a:rPr lang="ru-RU" sz="1400" dirty="0"/>
              <a:t>.</a:t>
            </a:r>
            <a:endParaRPr lang="en-US" sz="1400" dirty="0">
              <a:effectLst/>
            </a:endParaRPr>
          </a:p>
          <a:p>
            <a:pPr>
              <a:spcBef>
                <a:spcPts val="600"/>
              </a:spcBef>
            </a:pPr>
            <a:r>
              <a:rPr lang="ru-RU" sz="1400" b="1" dirty="0">
                <a:effectLst/>
              </a:rPr>
              <a:t>SR-CNN</a:t>
            </a:r>
            <a:r>
              <a:rPr lang="ru-RU" sz="1400" dirty="0">
                <a:effectLst/>
              </a:rPr>
              <a:t>: временной ряд преобразуется методом </a:t>
            </a:r>
            <a:r>
              <a:rPr lang="ru-RU" sz="1400" dirty="0" err="1">
                <a:effectLst/>
              </a:rPr>
              <a:t>Spectral</a:t>
            </a:r>
            <a:r>
              <a:rPr lang="ru-RU" sz="1400" dirty="0">
                <a:effectLst/>
              </a:rPr>
              <a:t> </a:t>
            </a:r>
            <a:r>
              <a:rPr lang="ru-RU" sz="1400" dirty="0" err="1">
                <a:effectLst/>
              </a:rPr>
              <a:t>Residual</a:t>
            </a:r>
            <a:r>
              <a:rPr lang="ru-RU" sz="1400" dirty="0">
                <a:effectLst/>
              </a:rPr>
              <a:t>, который выделяет локальные отклонения от типичного поведения; далее CNN по окнам ряда вычисляет </a:t>
            </a:r>
            <a:r>
              <a:rPr lang="ru-RU" sz="1400" dirty="0" err="1">
                <a:effectLst/>
              </a:rPr>
              <a:t>anomaly</a:t>
            </a:r>
            <a:r>
              <a:rPr lang="ru-RU" sz="1400" dirty="0">
                <a:effectLst/>
              </a:rPr>
              <a:t> </a:t>
            </a:r>
            <a:r>
              <a:rPr lang="ru-RU" sz="1400" dirty="0" err="1">
                <a:effectLst/>
              </a:rPr>
              <a:t>score</a:t>
            </a:r>
            <a:r>
              <a:rPr lang="ru-RU" sz="1400" dirty="0">
                <a:effectLst/>
              </a:rPr>
              <a:t> для каждой точки</a:t>
            </a:r>
            <a:endParaRPr lang="ru-RU" sz="1400" dirty="0"/>
          </a:p>
          <a:p>
            <a:pPr marL="101600" indent="0">
              <a:spcBef>
                <a:spcPts val="600"/>
              </a:spcBef>
              <a:buNone/>
            </a:pPr>
            <a:endParaRPr lang="en-US" sz="1400" b="1" dirty="0"/>
          </a:p>
        </p:txBody>
      </p:sp>
      <p:sp>
        <p:nvSpPr>
          <p:cNvPr id="128" name="Google Shape;128;p18"/>
          <p:cNvSpPr txBox="1">
            <a:spLocks noGrp="1"/>
          </p:cNvSpPr>
          <p:nvPr>
            <p:ph type="sldNum" idx="12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r>
              <a:rPr lang="ru-RU" dirty="0"/>
              <a:t>/24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FC84C5F-8C72-430E-A1FD-5799929DF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244" y="1181179"/>
            <a:ext cx="5370296" cy="186137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93D93B-93BB-4BA5-94DC-F9FFBDFBA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13" y="3305132"/>
            <a:ext cx="5374021" cy="190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865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616D40-FF10-42AA-AD6E-E89BC0FA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0"/>
            <a:ext cx="9150675" cy="1427585"/>
          </a:xfrm>
        </p:spPr>
        <p:txBody>
          <a:bodyPr/>
          <a:lstStyle/>
          <a:p>
            <a:r>
              <a:rPr lang="ru-RU" b="1" dirty="0"/>
              <a:t>Практическая часть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7E148C-D695-4C40-BA69-A97B5D9DF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153" y="1191802"/>
            <a:ext cx="8552264" cy="5036384"/>
          </a:xfrm>
        </p:spPr>
        <p:txBody>
          <a:bodyPr>
            <a:normAutofit/>
          </a:bodyPr>
          <a:lstStyle/>
          <a:p>
            <a:pPr marL="101600" indent="0">
              <a:spcBef>
                <a:spcPts val="1200"/>
              </a:spcBef>
              <a:buNone/>
            </a:pPr>
            <a:r>
              <a:rPr lang="ru-RU" sz="1800" b="1" u="sng" dirty="0"/>
              <a:t>Подзадачи:</a:t>
            </a:r>
          </a:p>
          <a:p>
            <a:pPr marL="444500" indent="-342900">
              <a:spcBef>
                <a:spcPts val="1200"/>
              </a:spcBef>
              <a:buFont typeface="+mj-lt"/>
              <a:buAutoNum type="arabicPeriod"/>
            </a:pPr>
            <a:r>
              <a:rPr lang="ru-RU" sz="1800" dirty="0"/>
              <a:t>Реализация программного модуля для разметки данных</a:t>
            </a:r>
          </a:p>
          <a:p>
            <a:pPr marL="444500" indent="-342900">
              <a:spcBef>
                <a:spcPts val="1200"/>
              </a:spcBef>
              <a:buFont typeface="+mj-lt"/>
              <a:buAutoNum type="arabicPeriod"/>
            </a:pPr>
            <a:r>
              <a:rPr lang="ru-RU" sz="1800" dirty="0"/>
              <a:t>Реализация программного модуля для исследования методов обнаружения аномального поведения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8C1658-9274-456F-B7B6-2CEE3933A5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r>
              <a:rPr lang="ru-RU" dirty="0"/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3510104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616D40-FF10-42AA-AD6E-E89BC0FA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0"/>
            <a:ext cx="9150675" cy="1427585"/>
          </a:xfrm>
        </p:spPr>
        <p:txBody>
          <a:bodyPr/>
          <a:lstStyle/>
          <a:p>
            <a:r>
              <a:rPr lang="ru-RU" b="1" dirty="0"/>
              <a:t>Практическая часть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7E148C-D695-4C40-BA69-A97B5D9DF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153" y="1191802"/>
            <a:ext cx="8552264" cy="5036384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ru-RU" sz="1800" dirty="0"/>
              <a:t>Разработано веб‑приложение на </a:t>
            </a:r>
            <a:r>
              <a:rPr lang="ru-RU" sz="1800" dirty="0" err="1"/>
              <a:t>Dash</a:t>
            </a:r>
            <a:r>
              <a:rPr lang="ru-RU" sz="1800" dirty="0"/>
              <a:t>/</a:t>
            </a:r>
            <a:r>
              <a:rPr lang="ru-RU" sz="1800" dirty="0" err="1"/>
              <a:t>Plotly</a:t>
            </a:r>
            <a:r>
              <a:rPr lang="ru-RU" sz="1800" dirty="0"/>
              <a:t> для визуализации температуры и ручной разметки аномалий кликом по графику</a:t>
            </a:r>
          </a:p>
          <a:p>
            <a:pPr>
              <a:spcBef>
                <a:spcPts val="600"/>
              </a:spcBef>
            </a:pPr>
            <a:r>
              <a:rPr lang="ru-RU" sz="1800" dirty="0"/>
              <a:t>Масштабирование по времени, просмотр интервалов, сохранение разметки в CSV</a:t>
            </a:r>
          </a:p>
          <a:p>
            <a:pPr>
              <a:spcBef>
                <a:spcPts val="600"/>
              </a:spcBef>
            </a:pPr>
            <a:r>
              <a:rPr lang="ru-RU" sz="1800" dirty="0"/>
              <a:t>Полученная разметка используется для расчета метрик качества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8C1658-9274-456F-B7B6-2CEE3933A5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r>
              <a:rPr lang="ru-RU" dirty="0"/>
              <a:t>/24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B94904-1C50-46B4-ACDE-DC7EAA232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195" y="3154791"/>
            <a:ext cx="6364776" cy="298120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FC804BC-DE68-4958-9FC4-6941F5B90BDA}"/>
              </a:ext>
            </a:extLst>
          </p:cNvPr>
          <p:cNvSpPr/>
          <p:nvPr/>
        </p:nvSpPr>
        <p:spPr>
          <a:xfrm>
            <a:off x="1450153" y="4837942"/>
            <a:ext cx="27988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Язык</a:t>
            </a:r>
            <a:r>
              <a:rPr lang="en-US" dirty="0"/>
              <a:t>: Python 3</a:t>
            </a:r>
          </a:p>
          <a:p>
            <a:r>
              <a:rPr lang="ru-RU" b="1" dirty="0"/>
              <a:t>Библиотеки</a:t>
            </a:r>
            <a:r>
              <a:rPr lang="en-US" dirty="0"/>
              <a:t>: dash, </a:t>
            </a:r>
            <a:r>
              <a:rPr lang="en-US" dirty="0" err="1"/>
              <a:t>plotly</a:t>
            </a:r>
            <a:endParaRPr lang="en-US" dirty="0"/>
          </a:p>
          <a:p>
            <a:r>
              <a:rPr lang="ru-RU" b="1" dirty="0"/>
              <a:t>Число строк</a:t>
            </a:r>
            <a:r>
              <a:rPr lang="en-US" dirty="0"/>
              <a:t>: ~</a:t>
            </a:r>
            <a:r>
              <a:rPr lang="ru-RU" dirty="0"/>
              <a:t>15</a:t>
            </a:r>
            <a:r>
              <a:rPr lang="en-US" dirty="0"/>
              <a:t>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6142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196645"/>
            <a:ext cx="9150675" cy="1427585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b="1" dirty="0"/>
              <a:t>Программный модуль для экспериментов</a:t>
            </a:r>
            <a:br>
              <a:rPr lang="ru-RU" sz="4000" dirty="0"/>
            </a:b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381119" y="1161952"/>
            <a:ext cx="10604195" cy="5696048"/>
          </a:xfrm>
        </p:spPr>
        <p:txBody>
          <a:bodyPr rtlCol="0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r>
              <a:rPr lang="ru-RU" dirty="0"/>
              <a:t>/24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1287441" y="5713394"/>
            <a:ext cx="686595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Язык</a:t>
            </a:r>
            <a:r>
              <a:rPr lang="en-US" dirty="0"/>
              <a:t>: Python 3</a:t>
            </a:r>
          </a:p>
          <a:p>
            <a:r>
              <a:rPr lang="ru-RU" b="1" dirty="0"/>
              <a:t>Библиотеки</a:t>
            </a:r>
            <a:r>
              <a:rPr lang="en-US" dirty="0"/>
              <a:t>: </a:t>
            </a:r>
            <a:r>
              <a:rPr lang="en-US" dirty="0" err="1"/>
              <a:t>numpy</a:t>
            </a:r>
            <a:r>
              <a:rPr lang="en-US" dirty="0"/>
              <a:t>, pandas, </a:t>
            </a:r>
            <a:r>
              <a:rPr lang="en-US" dirty="0" err="1"/>
              <a:t>statsmodels</a:t>
            </a:r>
            <a:r>
              <a:rPr lang="ru-RU" dirty="0"/>
              <a:t>, </a:t>
            </a:r>
            <a:r>
              <a:rPr lang="en-US" dirty="0" err="1"/>
              <a:t>catboost</a:t>
            </a:r>
            <a:r>
              <a:rPr lang="ru-RU" dirty="0"/>
              <a:t>, </a:t>
            </a:r>
            <a:r>
              <a:rPr lang="en-US" dirty="0" err="1"/>
              <a:t>xgboost</a:t>
            </a:r>
            <a:r>
              <a:rPr lang="en-US" dirty="0"/>
              <a:t>, stumpy, </a:t>
            </a:r>
            <a:r>
              <a:rPr lang="en-US" dirty="0" err="1"/>
              <a:t>pytorch</a:t>
            </a:r>
            <a:endParaRPr lang="en-US" dirty="0"/>
          </a:p>
          <a:p>
            <a:r>
              <a:rPr lang="ru-RU" b="1" dirty="0"/>
              <a:t>Число строк</a:t>
            </a:r>
            <a:r>
              <a:rPr lang="en-US" dirty="0"/>
              <a:t>: ~2</a:t>
            </a:r>
            <a:r>
              <a:rPr lang="ru-RU" dirty="0"/>
              <a:t>6</a:t>
            </a:r>
            <a:r>
              <a:rPr lang="en-US" dirty="0"/>
              <a:t>00</a:t>
            </a:r>
            <a:endParaRPr lang="ru-RU" dirty="0"/>
          </a:p>
        </p:txBody>
      </p:sp>
      <p:sp>
        <p:nvSpPr>
          <p:cNvPr id="75" name="iqds-input">
            <a:extLst>
              <a:ext uri="{FF2B5EF4-FFF2-40B4-BE49-F238E27FC236}">
                <a16:creationId xmlns:a16="http://schemas.microsoft.com/office/drawing/2014/main" id="{F6B21028-40A9-446B-8B09-42670AECDC87}"/>
              </a:ext>
            </a:extLst>
          </p:cNvPr>
          <p:cNvSpPr>
            <a:spLocks noGrp="1"/>
          </p:cNvSpPr>
          <p:nvPr/>
        </p:nvSpPr>
        <p:spPr>
          <a:xfrm>
            <a:off x="1007775" y="3066807"/>
            <a:ext cx="1162050" cy="1066800"/>
          </a:xfrm>
          <a:prstGeom prst="roundRect">
            <a:avLst>
              <a:gd name="adj" fmla="val 7143"/>
            </a:avLst>
          </a:prstGeom>
          <a:solidFill>
            <a:srgbClr val="DFA092"/>
          </a:solidFill>
          <a:ln w="19050">
            <a:solidFill>
              <a:srgbClr val="43585B"/>
            </a:solidFill>
            <a:prstDash val="solid"/>
          </a:ln>
        </p:spPr>
      </p:sp>
      <p:sp>
        <p:nvSpPr>
          <p:cNvPr id="76" name="iqds-title">
            <a:extLst>
              <a:ext uri="{FF2B5EF4-FFF2-40B4-BE49-F238E27FC236}">
                <a16:creationId xmlns:a16="http://schemas.microsoft.com/office/drawing/2014/main" id="{D2D0BD01-A76A-4373-A4A6-5BE9620B354B}"/>
              </a:ext>
            </a:extLst>
          </p:cNvPr>
          <p:cNvSpPr>
            <a:spLocks noGrp="1"/>
          </p:cNvSpPr>
          <p:nvPr/>
        </p:nvSpPr>
        <p:spPr>
          <a:xfrm>
            <a:off x="1150650" y="3238257"/>
            <a:ext cx="8763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IQDS</a:t>
            </a:r>
          </a:p>
        </p:txBody>
      </p:sp>
      <p:sp>
        <p:nvSpPr>
          <p:cNvPr id="77" name="iqds-description">
            <a:extLst>
              <a:ext uri="{FF2B5EF4-FFF2-40B4-BE49-F238E27FC236}">
                <a16:creationId xmlns:a16="http://schemas.microsoft.com/office/drawing/2014/main" id="{47211D67-D17B-4360-879C-AA13126313D5}"/>
              </a:ext>
            </a:extLst>
          </p:cNvPr>
          <p:cNvSpPr>
            <a:spLocks noGrp="1"/>
          </p:cNvSpPr>
          <p:nvPr/>
        </p:nvSpPr>
        <p:spPr>
          <a:xfrm>
            <a:off x="1083975" y="3638307"/>
            <a:ext cx="10096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326"/>
                </a:solidFill>
                <a:latin typeface="Arial"/>
                <a:ea typeface="Arial"/>
                <a:cs typeface="Arial"/>
              </a:rPr>
              <a:t>температура</a:t>
            </a:r>
          </a:p>
          <a:p>
            <a:pPr algn="ctr">
              <a:defRPr sz="1200" b="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326"/>
                </a:solidFill>
                <a:latin typeface="Arial"/>
                <a:ea typeface="Arial"/>
                <a:cs typeface="Arial"/>
              </a:rPr>
              <a:t>и разметка</a:t>
            </a:r>
          </a:p>
        </p:txBody>
      </p:sp>
      <p:sp>
        <p:nvSpPr>
          <p:cNvPr id="78" name="preprocessing-stage">
            <a:extLst>
              <a:ext uri="{FF2B5EF4-FFF2-40B4-BE49-F238E27FC236}">
                <a16:creationId xmlns:a16="http://schemas.microsoft.com/office/drawing/2014/main" id="{0EB525DC-C686-418B-ADE0-FB6012CB99E5}"/>
              </a:ext>
            </a:extLst>
          </p:cNvPr>
          <p:cNvSpPr>
            <a:spLocks noGrp="1"/>
          </p:cNvSpPr>
          <p:nvPr/>
        </p:nvSpPr>
        <p:spPr>
          <a:xfrm>
            <a:off x="2512725" y="1690444"/>
            <a:ext cx="2352675" cy="3819525"/>
          </a:xfrm>
          <a:prstGeom prst="roundRect">
            <a:avLst>
              <a:gd name="adj" fmla="val 8907"/>
            </a:avLst>
          </a:prstGeom>
          <a:solidFill>
            <a:srgbClr val="D8E8EA"/>
          </a:solidFill>
          <a:ln w="21908">
            <a:solidFill>
              <a:srgbClr val="43585B"/>
            </a:solidFill>
            <a:prstDash val="solid"/>
          </a:ln>
        </p:spPr>
      </p:sp>
      <p:sp>
        <p:nvSpPr>
          <p:cNvPr id="79" name="preprocessing-heading">
            <a:extLst>
              <a:ext uri="{FF2B5EF4-FFF2-40B4-BE49-F238E27FC236}">
                <a16:creationId xmlns:a16="http://schemas.microsoft.com/office/drawing/2014/main" id="{EC54D334-834A-4007-9403-D705B9B742ED}"/>
              </a:ext>
            </a:extLst>
          </p:cNvPr>
          <p:cNvSpPr>
            <a:spLocks noGrp="1"/>
          </p:cNvSpPr>
          <p:nvPr/>
        </p:nvSpPr>
        <p:spPr>
          <a:xfrm>
            <a:off x="2665125" y="1980957"/>
            <a:ext cx="19907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Подготовка</a:t>
            </a:r>
            <a:r>
              <a:rPr sz="1800" b="1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данных</a:t>
            </a:r>
            <a:endParaRPr sz="1800" b="1" dirty="0">
              <a:solidFill>
                <a:srgbClr val="1723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resample">
            <a:extLst>
              <a:ext uri="{FF2B5EF4-FFF2-40B4-BE49-F238E27FC236}">
                <a16:creationId xmlns:a16="http://schemas.microsoft.com/office/drawing/2014/main" id="{68DFA8BD-3B9C-48AA-AEBA-C05AC1D5D9EB}"/>
              </a:ext>
            </a:extLst>
          </p:cNvPr>
          <p:cNvSpPr>
            <a:spLocks noGrp="1"/>
          </p:cNvSpPr>
          <p:nvPr/>
        </p:nvSpPr>
        <p:spPr>
          <a:xfrm>
            <a:off x="2665125" y="2600082"/>
            <a:ext cx="1990725" cy="666750"/>
          </a:xfrm>
          <a:prstGeom prst="roundRect">
            <a:avLst>
              <a:gd name="adj" fmla="val 8571"/>
            </a:avLst>
          </a:prstGeom>
          <a:solidFill>
            <a:srgbClr val="FFF087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275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326"/>
                </a:solidFill>
                <a:latin typeface="Arial"/>
                <a:ea typeface="Arial"/>
                <a:cs typeface="Arial"/>
              </a:rPr>
              <a:t>10-минутная сетка</a:t>
            </a:r>
          </a:p>
          <a:p>
            <a:pPr algn="ctr">
              <a:defRPr sz="1275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326"/>
                </a:solidFill>
                <a:latin typeface="Arial"/>
                <a:ea typeface="Arial"/>
                <a:cs typeface="Arial"/>
              </a:rPr>
              <a:t>агрегация mean</a:t>
            </a:r>
          </a:p>
        </p:txBody>
      </p:sp>
      <p:sp>
        <p:nvSpPr>
          <p:cNvPr id="81" name="feature-representation">
            <a:extLst>
              <a:ext uri="{FF2B5EF4-FFF2-40B4-BE49-F238E27FC236}">
                <a16:creationId xmlns:a16="http://schemas.microsoft.com/office/drawing/2014/main" id="{84B7D4D8-9468-4698-92A7-2340C87189B4}"/>
              </a:ext>
            </a:extLst>
          </p:cNvPr>
          <p:cNvSpPr>
            <a:spLocks noGrp="1"/>
          </p:cNvSpPr>
          <p:nvPr/>
        </p:nvSpPr>
        <p:spPr>
          <a:xfrm>
            <a:off x="2665125" y="3466857"/>
            <a:ext cx="1990725" cy="695325"/>
          </a:xfrm>
          <a:prstGeom prst="roundRect">
            <a:avLst>
              <a:gd name="adj" fmla="val 8219"/>
            </a:avLst>
          </a:prstGeom>
          <a:solidFill>
            <a:srgbClr val="FFF087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275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75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Признаки</a:t>
            </a:r>
            <a:r>
              <a:rPr sz="1275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по</a:t>
            </a:r>
            <a:r>
              <a:rPr sz="1275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методу</a:t>
            </a:r>
            <a:endParaRPr sz="1275" dirty="0">
              <a:solidFill>
                <a:srgbClr val="172326"/>
              </a:solidFill>
              <a:latin typeface="Arial"/>
              <a:ea typeface="Arial"/>
              <a:cs typeface="Arial"/>
            </a:endParaRPr>
          </a:p>
          <a:p>
            <a:pPr algn="ctr">
              <a:defRPr sz="1275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75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лаги</a:t>
            </a:r>
            <a:r>
              <a:rPr sz="1275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, sin/cos, SR</a:t>
            </a:r>
            <a:r>
              <a:rPr lang="en-US" sz="1275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, SSA, STL, Wavelet</a:t>
            </a:r>
            <a:endParaRPr sz="1275" dirty="0">
              <a:solidFill>
                <a:srgbClr val="1723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missing-values">
            <a:extLst>
              <a:ext uri="{FF2B5EF4-FFF2-40B4-BE49-F238E27FC236}">
                <a16:creationId xmlns:a16="http://schemas.microsoft.com/office/drawing/2014/main" id="{318AA008-97F4-4362-8C21-7B2AE57205BC}"/>
              </a:ext>
            </a:extLst>
          </p:cNvPr>
          <p:cNvSpPr>
            <a:spLocks noGrp="1"/>
          </p:cNvSpPr>
          <p:nvPr/>
        </p:nvSpPr>
        <p:spPr>
          <a:xfrm>
            <a:off x="2665125" y="4362207"/>
            <a:ext cx="1990725" cy="723900"/>
          </a:xfrm>
          <a:prstGeom prst="roundRect">
            <a:avLst>
              <a:gd name="adj" fmla="val 7895"/>
            </a:avLst>
          </a:prstGeom>
          <a:solidFill>
            <a:srgbClr val="FFF087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275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326"/>
                </a:solidFill>
                <a:latin typeface="Arial"/>
                <a:ea typeface="Arial"/>
                <a:cs typeface="Arial"/>
              </a:rPr>
              <a:t>Пропуски</a:t>
            </a:r>
          </a:p>
          <a:p>
            <a:pPr algn="ctr">
              <a:defRPr sz="1275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72326"/>
                </a:solidFill>
                <a:latin typeface="Arial"/>
                <a:ea typeface="Arial"/>
                <a:cs typeface="Arial"/>
              </a:rPr>
              <a:t>обработка внутри метода</a:t>
            </a:r>
          </a:p>
        </p:txBody>
      </p:sp>
      <p:sp>
        <p:nvSpPr>
          <p:cNvPr id="83" name="model-stage">
            <a:extLst>
              <a:ext uri="{FF2B5EF4-FFF2-40B4-BE49-F238E27FC236}">
                <a16:creationId xmlns:a16="http://schemas.microsoft.com/office/drawing/2014/main" id="{AEED0876-3BD7-4FC0-AE00-4AE91F49274B}"/>
              </a:ext>
            </a:extLst>
          </p:cNvPr>
          <p:cNvSpPr>
            <a:spLocks noGrp="1"/>
          </p:cNvSpPr>
          <p:nvPr/>
        </p:nvSpPr>
        <p:spPr>
          <a:xfrm>
            <a:off x="5110061" y="1624230"/>
            <a:ext cx="2953573" cy="3961937"/>
          </a:xfrm>
          <a:prstGeom prst="roundRect">
            <a:avLst>
              <a:gd name="adj" fmla="val 6667"/>
            </a:avLst>
          </a:prstGeom>
          <a:solidFill>
            <a:srgbClr val="E5F0F1"/>
          </a:solidFill>
          <a:ln w="21908">
            <a:solidFill>
              <a:srgbClr val="43585B"/>
            </a:solidFill>
            <a:prstDash val="solid"/>
          </a:ln>
        </p:spPr>
      </p:sp>
      <p:sp>
        <p:nvSpPr>
          <p:cNvPr id="84" name="model-heading">
            <a:extLst>
              <a:ext uri="{FF2B5EF4-FFF2-40B4-BE49-F238E27FC236}">
                <a16:creationId xmlns:a16="http://schemas.microsoft.com/office/drawing/2014/main" id="{072EFDD7-7D7F-4A1B-9E28-701C9F2CBC53}"/>
              </a:ext>
            </a:extLst>
          </p:cNvPr>
          <p:cNvSpPr>
            <a:spLocks noGrp="1"/>
          </p:cNvSpPr>
          <p:nvPr/>
        </p:nvSpPr>
        <p:spPr>
          <a:xfrm>
            <a:off x="5273955" y="1695768"/>
            <a:ext cx="2613465" cy="36615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1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Методы обнаружения</a:t>
            </a:r>
          </a:p>
        </p:txBody>
      </p:sp>
      <p:sp>
        <p:nvSpPr>
          <p:cNvPr id="85" name="unsupervised-heading">
            <a:extLst>
              <a:ext uri="{FF2B5EF4-FFF2-40B4-BE49-F238E27FC236}">
                <a16:creationId xmlns:a16="http://schemas.microsoft.com/office/drawing/2014/main" id="{5F4DCE9A-31D8-4BE7-ADFC-4B3B13DC4031}"/>
              </a:ext>
            </a:extLst>
          </p:cNvPr>
          <p:cNvSpPr>
            <a:spLocks noGrp="1"/>
          </p:cNvSpPr>
          <p:nvPr/>
        </p:nvSpPr>
        <p:spPr>
          <a:xfrm>
            <a:off x="5321580" y="2123028"/>
            <a:ext cx="2523962" cy="2722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6"/>
                </a:solidFill>
                <a:latin typeface="Arial"/>
                <a:ea typeface="Arial"/>
                <a:cs typeface="Arial"/>
              </a:rPr>
              <a:t>Без меток при обучении</a:t>
            </a:r>
          </a:p>
        </p:txBody>
      </p:sp>
      <p:sp>
        <p:nvSpPr>
          <p:cNvPr id="86" name="ets">
            <a:extLst>
              <a:ext uri="{FF2B5EF4-FFF2-40B4-BE49-F238E27FC236}">
                <a16:creationId xmlns:a16="http://schemas.microsoft.com/office/drawing/2014/main" id="{E7010B9A-6D5C-45CE-B0D0-45F5E6C5387D}"/>
              </a:ext>
            </a:extLst>
          </p:cNvPr>
          <p:cNvSpPr>
            <a:spLocks noGrp="1"/>
          </p:cNvSpPr>
          <p:nvPr/>
        </p:nvSpPr>
        <p:spPr>
          <a:xfrm>
            <a:off x="5340630" y="2458315"/>
            <a:ext cx="2488161" cy="403704"/>
          </a:xfrm>
          <a:prstGeom prst="roundRect">
            <a:avLst>
              <a:gd name="adj" fmla="val 13953"/>
            </a:avLst>
          </a:prstGeom>
          <a:solidFill>
            <a:srgbClr val="9FC0C7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35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326"/>
                </a:solidFill>
                <a:latin typeface="Arial"/>
                <a:ea typeface="Arial"/>
                <a:cs typeface="Arial"/>
              </a:rPr>
              <a:t>Holt–Winters ETS</a:t>
            </a:r>
          </a:p>
        </p:txBody>
      </p:sp>
      <p:sp>
        <p:nvSpPr>
          <p:cNvPr id="88" name="matrix-profile">
            <a:extLst>
              <a:ext uri="{FF2B5EF4-FFF2-40B4-BE49-F238E27FC236}">
                <a16:creationId xmlns:a16="http://schemas.microsoft.com/office/drawing/2014/main" id="{CDE10EE4-01FC-4D62-B708-904574B56AA9}"/>
              </a:ext>
            </a:extLst>
          </p:cNvPr>
          <p:cNvSpPr>
            <a:spLocks noGrp="1"/>
          </p:cNvSpPr>
          <p:nvPr/>
        </p:nvSpPr>
        <p:spPr>
          <a:xfrm>
            <a:off x="5340630" y="2953615"/>
            <a:ext cx="2488161" cy="403704"/>
          </a:xfrm>
          <a:prstGeom prst="roundRect">
            <a:avLst>
              <a:gd name="adj" fmla="val 13953"/>
            </a:avLst>
          </a:prstGeom>
          <a:solidFill>
            <a:srgbClr val="9FC0C7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35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326"/>
                </a:solidFill>
                <a:latin typeface="Arial"/>
                <a:ea typeface="Arial"/>
                <a:cs typeface="Arial"/>
              </a:rPr>
              <a:t>Matrix Profile</a:t>
            </a:r>
          </a:p>
        </p:txBody>
      </p:sp>
      <p:sp>
        <p:nvSpPr>
          <p:cNvPr id="89" name="sarima">
            <a:extLst>
              <a:ext uri="{FF2B5EF4-FFF2-40B4-BE49-F238E27FC236}">
                <a16:creationId xmlns:a16="http://schemas.microsoft.com/office/drawing/2014/main" id="{9BD65123-820C-49B2-8F3A-2AE3766D35C3}"/>
              </a:ext>
            </a:extLst>
          </p:cNvPr>
          <p:cNvSpPr>
            <a:spLocks noGrp="1"/>
          </p:cNvSpPr>
          <p:nvPr/>
        </p:nvSpPr>
        <p:spPr>
          <a:xfrm>
            <a:off x="5340630" y="3448915"/>
            <a:ext cx="2488161" cy="403704"/>
          </a:xfrm>
          <a:prstGeom prst="roundRect">
            <a:avLst>
              <a:gd name="adj" fmla="val 13953"/>
            </a:avLst>
          </a:prstGeom>
          <a:solidFill>
            <a:srgbClr val="9FC0C7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35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326"/>
                </a:solidFill>
                <a:latin typeface="Arial"/>
                <a:ea typeface="Arial"/>
                <a:cs typeface="Arial"/>
              </a:rPr>
              <a:t>SARIMA</a:t>
            </a:r>
          </a:p>
        </p:txBody>
      </p:sp>
      <p:sp>
        <p:nvSpPr>
          <p:cNvPr id="90" name="normal-heading">
            <a:extLst>
              <a:ext uri="{FF2B5EF4-FFF2-40B4-BE49-F238E27FC236}">
                <a16:creationId xmlns:a16="http://schemas.microsoft.com/office/drawing/2014/main" id="{D35351F9-5E2D-409D-88EC-FDEA51F8E222}"/>
              </a:ext>
            </a:extLst>
          </p:cNvPr>
          <p:cNvSpPr>
            <a:spLocks noGrp="1"/>
          </p:cNvSpPr>
          <p:nvPr/>
        </p:nvSpPr>
        <p:spPr>
          <a:xfrm>
            <a:off x="5321580" y="3961353"/>
            <a:ext cx="2523962" cy="2722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326"/>
                </a:solidFill>
                <a:latin typeface="Arial"/>
                <a:ea typeface="Arial"/>
                <a:cs typeface="Arial"/>
              </a:rPr>
              <a:t>Обучение на размеченной норме</a:t>
            </a:r>
          </a:p>
        </p:txBody>
      </p:sp>
      <p:sp>
        <p:nvSpPr>
          <p:cNvPr id="91" name="catboost">
            <a:extLst>
              <a:ext uri="{FF2B5EF4-FFF2-40B4-BE49-F238E27FC236}">
                <a16:creationId xmlns:a16="http://schemas.microsoft.com/office/drawing/2014/main" id="{D177197F-21F4-4AD6-96C4-854FE22F35EF}"/>
              </a:ext>
            </a:extLst>
          </p:cNvPr>
          <p:cNvSpPr>
            <a:spLocks noGrp="1"/>
          </p:cNvSpPr>
          <p:nvPr/>
        </p:nvSpPr>
        <p:spPr>
          <a:xfrm>
            <a:off x="5340631" y="4316099"/>
            <a:ext cx="796570" cy="431870"/>
          </a:xfrm>
          <a:prstGeom prst="roundRect">
            <a:avLst>
              <a:gd name="adj" fmla="val 13043"/>
            </a:avLst>
          </a:prstGeom>
          <a:solidFill>
            <a:srgbClr val="9FC0C7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20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326"/>
                </a:solidFill>
                <a:latin typeface="Arial"/>
                <a:ea typeface="Arial"/>
                <a:cs typeface="Arial"/>
              </a:rPr>
              <a:t>CatBoost</a:t>
            </a:r>
          </a:p>
        </p:txBody>
      </p:sp>
      <p:sp>
        <p:nvSpPr>
          <p:cNvPr id="92" name="xgboost">
            <a:extLst>
              <a:ext uri="{FF2B5EF4-FFF2-40B4-BE49-F238E27FC236}">
                <a16:creationId xmlns:a16="http://schemas.microsoft.com/office/drawing/2014/main" id="{238591F9-9B3E-4568-815C-A7721CCAC240}"/>
              </a:ext>
            </a:extLst>
          </p:cNvPr>
          <p:cNvSpPr>
            <a:spLocks noGrp="1"/>
          </p:cNvSpPr>
          <p:nvPr/>
        </p:nvSpPr>
        <p:spPr>
          <a:xfrm>
            <a:off x="6245506" y="4316099"/>
            <a:ext cx="796570" cy="431870"/>
          </a:xfrm>
          <a:prstGeom prst="roundRect">
            <a:avLst>
              <a:gd name="adj" fmla="val 13043"/>
            </a:avLst>
          </a:prstGeom>
          <a:solidFill>
            <a:srgbClr val="9FC0C7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20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326"/>
                </a:solidFill>
                <a:latin typeface="Arial"/>
                <a:ea typeface="Arial"/>
                <a:cs typeface="Arial"/>
              </a:rPr>
              <a:t>XGBoost</a:t>
            </a:r>
          </a:p>
        </p:txBody>
      </p:sp>
      <p:sp>
        <p:nvSpPr>
          <p:cNvPr id="93" name="srcnn">
            <a:extLst>
              <a:ext uri="{FF2B5EF4-FFF2-40B4-BE49-F238E27FC236}">
                <a16:creationId xmlns:a16="http://schemas.microsoft.com/office/drawing/2014/main" id="{787B15C1-F5C6-405A-B843-995F6A777A57}"/>
              </a:ext>
            </a:extLst>
          </p:cNvPr>
          <p:cNvSpPr>
            <a:spLocks noGrp="1"/>
          </p:cNvSpPr>
          <p:nvPr/>
        </p:nvSpPr>
        <p:spPr>
          <a:xfrm>
            <a:off x="7150381" y="4316099"/>
            <a:ext cx="796570" cy="431870"/>
          </a:xfrm>
          <a:prstGeom prst="roundRect">
            <a:avLst>
              <a:gd name="adj" fmla="val 13043"/>
            </a:avLst>
          </a:prstGeom>
          <a:solidFill>
            <a:srgbClr val="9FC0C7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20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72326"/>
                </a:solidFill>
                <a:latin typeface="Arial"/>
                <a:ea typeface="Arial"/>
                <a:cs typeface="Arial"/>
              </a:rPr>
              <a:t>SR-CNN</a:t>
            </a:r>
          </a:p>
        </p:txBody>
      </p:sp>
      <p:sp>
        <p:nvSpPr>
          <p:cNvPr id="95" name="model-window-note">
            <a:extLst>
              <a:ext uri="{FF2B5EF4-FFF2-40B4-BE49-F238E27FC236}">
                <a16:creationId xmlns:a16="http://schemas.microsoft.com/office/drawing/2014/main" id="{FF120B19-3648-4988-9162-E9EDB0A51B7F}"/>
              </a:ext>
            </a:extLst>
          </p:cNvPr>
          <p:cNvSpPr>
            <a:spLocks noGrp="1"/>
          </p:cNvSpPr>
          <p:nvPr/>
        </p:nvSpPr>
        <p:spPr>
          <a:xfrm>
            <a:off x="5340630" y="4971003"/>
            <a:ext cx="2488161" cy="2722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3E5B60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3E5B60"/>
                </a:solidFill>
                <a:latin typeface="Arial"/>
                <a:ea typeface="Arial"/>
                <a:cs typeface="Arial"/>
              </a:rPr>
              <a:t>Окно</a:t>
            </a:r>
            <a:r>
              <a:rPr sz="1200" b="0" dirty="0">
                <a:solidFill>
                  <a:srgbClr val="3E5B6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3E5B60"/>
                </a:solidFill>
                <a:latin typeface="Arial"/>
                <a:ea typeface="Arial"/>
                <a:cs typeface="Arial"/>
              </a:rPr>
              <a:t>обучения</a:t>
            </a:r>
            <a:r>
              <a:rPr sz="1200" b="0" dirty="0">
                <a:solidFill>
                  <a:srgbClr val="3E5B6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3E5B60"/>
                </a:solidFill>
                <a:latin typeface="Arial"/>
                <a:ea typeface="Arial"/>
                <a:cs typeface="Arial"/>
              </a:rPr>
              <a:t>зависит</a:t>
            </a:r>
            <a:r>
              <a:rPr sz="1200" b="0" dirty="0">
                <a:solidFill>
                  <a:srgbClr val="3E5B6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3E5B60"/>
                </a:solidFill>
                <a:latin typeface="Arial"/>
                <a:ea typeface="Arial"/>
                <a:cs typeface="Arial"/>
              </a:rPr>
              <a:t>от</a:t>
            </a:r>
            <a:r>
              <a:rPr sz="1200" b="0" dirty="0">
                <a:solidFill>
                  <a:srgbClr val="3E5B60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3E5B60"/>
                </a:solidFill>
                <a:latin typeface="Arial"/>
                <a:ea typeface="Arial"/>
                <a:cs typeface="Arial"/>
              </a:rPr>
              <a:t>метода</a:t>
            </a:r>
            <a:endParaRPr sz="1200" b="0" dirty="0">
              <a:solidFill>
                <a:srgbClr val="3E5B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6" name="decision-stage">
            <a:extLst>
              <a:ext uri="{FF2B5EF4-FFF2-40B4-BE49-F238E27FC236}">
                <a16:creationId xmlns:a16="http://schemas.microsoft.com/office/drawing/2014/main" id="{5466AA4E-3075-416D-8DA0-58C1ADCEA1A5}"/>
              </a:ext>
            </a:extLst>
          </p:cNvPr>
          <p:cNvSpPr>
            <a:spLocks noGrp="1"/>
          </p:cNvSpPr>
          <p:nvPr/>
        </p:nvSpPr>
        <p:spPr>
          <a:xfrm>
            <a:off x="8338457" y="1790700"/>
            <a:ext cx="2124075" cy="3619500"/>
          </a:xfrm>
          <a:prstGeom prst="roundRect">
            <a:avLst>
              <a:gd name="adj" fmla="val 9865"/>
            </a:avLst>
          </a:prstGeom>
          <a:solidFill>
            <a:srgbClr val="D8E8EA"/>
          </a:solidFill>
          <a:ln w="21908">
            <a:solidFill>
              <a:srgbClr val="43585B"/>
            </a:solidFill>
            <a:prstDash val="solid"/>
          </a:ln>
        </p:spPr>
      </p:sp>
      <p:sp>
        <p:nvSpPr>
          <p:cNvPr id="97" name="decision-heading">
            <a:extLst>
              <a:ext uri="{FF2B5EF4-FFF2-40B4-BE49-F238E27FC236}">
                <a16:creationId xmlns:a16="http://schemas.microsoft.com/office/drawing/2014/main" id="{04430553-6F23-4785-91FB-D9233A0D5508}"/>
              </a:ext>
            </a:extLst>
          </p:cNvPr>
          <p:cNvSpPr>
            <a:spLocks noGrp="1"/>
          </p:cNvSpPr>
          <p:nvPr/>
        </p:nvSpPr>
        <p:spPr>
          <a:xfrm>
            <a:off x="8567057" y="2105025"/>
            <a:ext cx="1762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326"/>
                </a:solidFill>
                <a:latin typeface="Arial"/>
                <a:ea typeface="Arial"/>
                <a:cs typeface="Arial"/>
              </a:rPr>
              <a:t>Решение об аномалии</a:t>
            </a:r>
          </a:p>
        </p:txBody>
      </p:sp>
      <p:sp>
        <p:nvSpPr>
          <p:cNvPr id="98" name="score">
            <a:extLst>
              <a:ext uri="{FF2B5EF4-FFF2-40B4-BE49-F238E27FC236}">
                <a16:creationId xmlns:a16="http://schemas.microsoft.com/office/drawing/2014/main" id="{92838E9F-9C81-49FD-8ABF-A3B7BACF9B29}"/>
              </a:ext>
            </a:extLst>
          </p:cNvPr>
          <p:cNvSpPr>
            <a:spLocks noGrp="1"/>
          </p:cNvSpPr>
          <p:nvPr/>
        </p:nvSpPr>
        <p:spPr>
          <a:xfrm>
            <a:off x="8586107" y="2743200"/>
            <a:ext cx="1724025" cy="590550"/>
          </a:xfrm>
          <a:prstGeom prst="roundRect">
            <a:avLst>
              <a:gd name="adj" fmla="val 9677"/>
            </a:avLst>
          </a:prstGeom>
          <a:solidFill>
            <a:srgbClr val="FFF087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35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326"/>
                </a:solidFill>
                <a:latin typeface="Arial"/>
                <a:ea typeface="Arial"/>
                <a:cs typeface="Arial"/>
              </a:rPr>
              <a:t>Непрерывный</a:t>
            </a:r>
          </a:p>
          <a:p>
            <a:pPr algn="ctr">
              <a:defRPr sz="135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72326"/>
                </a:solidFill>
                <a:latin typeface="Arial"/>
                <a:ea typeface="Arial"/>
                <a:cs typeface="Arial"/>
              </a:rPr>
              <a:t>скор аномалии</a:t>
            </a:r>
          </a:p>
        </p:txBody>
      </p:sp>
      <p:sp>
        <p:nvSpPr>
          <p:cNvPr id="99" name="threshold">
            <a:extLst>
              <a:ext uri="{FF2B5EF4-FFF2-40B4-BE49-F238E27FC236}">
                <a16:creationId xmlns:a16="http://schemas.microsoft.com/office/drawing/2014/main" id="{14F38D60-0591-4259-9553-FBCC10FC16E2}"/>
              </a:ext>
            </a:extLst>
          </p:cNvPr>
          <p:cNvSpPr>
            <a:spLocks noGrp="1"/>
          </p:cNvSpPr>
          <p:nvPr/>
        </p:nvSpPr>
        <p:spPr>
          <a:xfrm>
            <a:off x="8586107" y="3667125"/>
            <a:ext cx="1724025" cy="657225"/>
          </a:xfrm>
          <a:prstGeom prst="roundRect">
            <a:avLst>
              <a:gd name="adj" fmla="val 8696"/>
            </a:avLst>
          </a:prstGeom>
          <a:solidFill>
            <a:srgbClr val="FFF087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 fontScale="97198"/>
          </a:bodyPr>
          <a:lstStyle/>
          <a:p>
            <a:pPr algn="ctr">
              <a:defRPr sz="1275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75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Порог</a:t>
            </a:r>
            <a:r>
              <a:rPr sz="1275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по</a:t>
            </a:r>
            <a:r>
              <a:rPr sz="1275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прошлым</a:t>
            </a:r>
            <a:endParaRPr sz="1275" dirty="0">
              <a:solidFill>
                <a:srgbClr val="172326"/>
              </a:solidFill>
              <a:latin typeface="Arial"/>
              <a:ea typeface="Arial"/>
              <a:cs typeface="Arial"/>
            </a:endParaRPr>
          </a:p>
          <a:p>
            <a:pPr algn="ctr">
              <a:defRPr sz="1275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75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размеченным</a:t>
            </a:r>
            <a:r>
              <a:rPr sz="1275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 </a:t>
            </a:r>
            <a:r>
              <a:rPr sz="1275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суткам</a:t>
            </a:r>
            <a:endParaRPr sz="1275" dirty="0">
              <a:solidFill>
                <a:srgbClr val="1723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0" name="alarm">
            <a:extLst>
              <a:ext uri="{FF2B5EF4-FFF2-40B4-BE49-F238E27FC236}">
                <a16:creationId xmlns:a16="http://schemas.microsoft.com/office/drawing/2014/main" id="{C379E827-B7AB-4B5D-96F5-A57AF6A2F629}"/>
              </a:ext>
            </a:extLst>
          </p:cNvPr>
          <p:cNvSpPr>
            <a:spLocks noGrp="1"/>
          </p:cNvSpPr>
          <p:nvPr/>
        </p:nvSpPr>
        <p:spPr>
          <a:xfrm>
            <a:off x="8586107" y="4667250"/>
            <a:ext cx="1724025" cy="590550"/>
          </a:xfrm>
          <a:prstGeom prst="roundRect">
            <a:avLst>
              <a:gd name="adj" fmla="val 9677"/>
            </a:avLst>
          </a:prstGeom>
          <a:solidFill>
            <a:srgbClr val="FFF087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35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350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Подтвержд</a:t>
            </a:r>
            <a:r>
              <a:rPr lang="ru-RU" sz="1350" dirty="0">
                <a:solidFill>
                  <a:srgbClr val="172326"/>
                </a:solidFill>
              </a:rPr>
              <a:t>е</a:t>
            </a:r>
            <a:r>
              <a:rPr sz="1350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нная</a:t>
            </a:r>
            <a:endParaRPr sz="1350" dirty="0">
              <a:solidFill>
                <a:srgbClr val="172326"/>
              </a:solidFill>
              <a:latin typeface="Arial"/>
              <a:ea typeface="Arial"/>
              <a:cs typeface="Arial"/>
            </a:endParaRPr>
          </a:p>
          <a:p>
            <a:pPr algn="ctr">
              <a:defRPr sz="135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350" dirty="0" err="1">
                <a:solidFill>
                  <a:srgbClr val="172326"/>
                </a:solidFill>
                <a:latin typeface="Arial"/>
                <a:ea typeface="Arial"/>
                <a:cs typeface="Arial"/>
              </a:rPr>
              <a:t>тревога</a:t>
            </a:r>
            <a:endParaRPr sz="1350" dirty="0">
              <a:solidFill>
                <a:srgbClr val="172326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01" name="Прямая со стрелкой 100">
            <a:extLst>
              <a:ext uri="{FF2B5EF4-FFF2-40B4-BE49-F238E27FC236}">
                <a16:creationId xmlns:a16="http://schemas.microsoft.com/office/drawing/2014/main" id="{91976F4F-6100-4853-9D0A-5236F2196717}"/>
              </a:ext>
            </a:extLst>
          </p:cNvPr>
          <p:cNvCxnSpPr>
            <a:stCxn id="98" idx="2"/>
            <a:endCxn id="99" idx="0"/>
          </p:cNvCxnSpPr>
          <p:nvPr/>
        </p:nvCxnSpPr>
        <p:spPr>
          <a:xfrm>
            <a:off x="9448120" y="3333750"/>
            <a:ext cx="0" cy="333375"/>
          </a:xfrm>
          <a:prstGeom prst="straightConnector1">
            <a:avLst/>
          </a:prstGeom>
          <a:ln w="22860">
            <a:solidFill>
              <a:srgbClr val="35494C"/>
            </a:solidFill>
            <a:prstDash val="solid"/>
            <a:tailEnd type="triangle" w="med" len="med"/>
          </a:ln>
        </p:spPr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AAB9564C-B849-40E1-9082-47FCA3839374}"/>
              </a:ext>
            </a:extLst>
          </p:cNvPr>
          <p:cNvCxnSpPr>
            <a:stCxn id="99" idx="2"/>
            <a:endCxn id="100" idx="0"/>
          </p:cNvCxnSpPr>
          <p:nvPr/>
        </p:nvCxnSpPr>
        <p:spPr>
          <a:xfrm>
            <a:off x="9448120" y="4324350"/>
            <a:ext cx="0" cy="342900"/>
          </a:xfrm>
          <a:prstGeom prst="straightConnector1">
            <a:avLst/>
          </a:prstGeom>
          <a:ln w="22860">
            <a:solidFill>
              <a:srgbClr val="35494C"/>
            </a:solidFill>
            <a:prstDash val="solid"/>
            <a:tailEnd type="triangle" w="med" len="med"/>
          </a:ln>
        </p:spPr>
      </p:cxnSp>
      <p:sp>
        <p:nvSpPr>
          <p:cNvPr id="103" name="metrics-stage">
            <a:extLst>
              <a:ext uri="{FF2B5EF4-FFF2-40B4-BE49-F238E27FC236}">
                <a16:creationId xmlns:a16="http://schemas.microsoft.com/office/drawing/2014/main" id="{1BF5C672-9D4E-4ED4-9518-0DD31C819C8C}"/>
              </a:ext>
            </a:extLst>
          </p:cNvPr>
          <p:cNvSpPr>
            <a:spLocks noGrp="1"/>
          </p:cNvSpPr>
          <p:nvPr/>
        </p:nvSpPr>
        <p:spPr>
          <a:xfrm>
            <a:off x="10689914" y="2034462"/>
            <a:ext cx="1362075" cy="3333750"/>
          </a:xfrm>
          <a:prstGeom prst="roundRect">
            <a:avLst>
              <a:gd name="adj" fmla="val 13986"/>
            </a:avLst>
          </a:prstGeom>
          <a:solidFill>
            <a:srgbClr val="D8E8EA"/>
          </a:solidFill>
          <a:ln w="21908">
            <a:solidFill>
              <a:srgbClr val="43585B"/>
            </a:solidFill>
            <a:prstDash val="solid"/>
          </a:ln>
        </p:spPr>
      </p:sp>
      <p:sp>
        <p:nvSpPr>
          <p:cNvPr id="104" name="metrics-heading">
            <a:extLst>
              <a:ext uri="{FF2B5EF4-FFF2-40B4-BE49-F238E27FC236}">
                <a16:creationId xmlns:a16="http://schemas.microsoft.com/office/drawing/2014/main" id="{D94EAF3D-9A6D-4813-8EA3-98934654D589}"/>
              </a:ext>
            </a:extLst>
          </p:cNvPr>
          <p:cNvSpPr>
            <a:spLocks noGrp="1"/>
          </p:cNvSpPr>
          <p:nvPr/>
        </p:nvSpPr>
        <p:spPr>
          <a:xfrm>
            <a:off x="10734675" y="2209800"/>
            <a:ext cx="1228725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26"/>
                </a:solidFill>
                <a:latin typeface="Arial"/>
                <a:ea typeface="Arial"/>
                <a:cs typeface="Arial"/>
              </a:rPr>
              <a:t>Оценка качества</a:t>
            </a:r>
          </a:p>
        </p:txBody>
      </p:sp>
      <p:sp>
        <p:nvSpPr>
          <p:cNvPr id="105" name="rank-metrics">
            <a:extLst>
              <a:ext uri="{FF2B5EF4-FFF2-40B4-BE49-F238E27FC236}">
                <a16:creationId xmlns:a16="http://schemas.microsoft.com/office/drawing/2014/main" id="{A7A16C42-767D-46F0-8E71-7C75F6C52BD8}"/>
              </a:ext>
            </a:extLst>
          </p:cNvPr>
          <p:cNvSpPr>
            <a:spLocks noGrp="1"/>
          </p:cNvSpPr>
          <p:nvPr/>
        </p:nvSpPr>
        <p:spPr>
          <a:xfrm>
            <a:off x="10772775" y="2886075"/>
            <a:ext cx="1152525" cy="714375"/>
          </a:xfrm>
          <a:prstGeom prst="roundRect">
            <a:avLst>
              <a:gd name="adj" fmla="val 8000"/>
            </a:avLst>
          </a:prstGeom>
          <a:solidFill>
            <a:srgbClr val="9AD459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275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ROC-AUC, AP</a:t>
            </a:r>
          </a:p>
        </p:txBody>
      </p:sp>
      <p:sp>
        <p:nvSpPr>
          <p:cNvPr id="106" name="alarm-metrics">
            <a:extLst>
              <a:ext uri="{FF2B5EF4-FFF2-40B4-BE49-F238E27FC236}">
                <a16:creationId xmlns:a16="http://schemas.microsoft.com/office/drawing/2014/main" id="{C0BC30F2-E504-4533-991E-8896565EDEC4}"/>
              </a:ext>
            </a:extLst>
          </p:cNvPr>
          <p:cNvSpPr>
            <a:spLocks noGrp="1"/>
          </p:cNvSpPr>
          <p:nvPr/>
        </p:nvSpPr>
        <p:spPr>
          <a:xfrm>
            <a:off x="10763732" y="3799114"/>
            <a:ext cx="1152525" cy="914400"/>
          </a:xfrm>
          <a:prstGeom prst="roundRect">
            <a:avLst>
              <a:gd name="adj" fmla="val 6250"/>
            </a:avLst>
          </a:prstGeom>
          <a:solidFill>
            <a:srgbClr val="9AD459"/>
          </a:solidFill>
          <a:ln w="16193">
            <a:solidFill>
              <a:srgbClr val="43585B"/>
            </a:solidFill>
            <a:prstDash val="solid"/>
          </a:ln>
        </p:spPr>
        <p:txBody>
          <a:bodyPr wrap="square" lIns="47625" tIns="28575" rIns="47625" bIns="28575" anchor="ctr">
            <a:normAutofit/>
          </a:bodyPr>
          <a:lstStyle/>
          <a:p>
            <a:pPr algn="ctr">
              <a:defRPr sz="1275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Precision</a:t>
            </a:r>
          </a:p>
          <a:p>
            <a:pPr algn="ctr">
              <a:defRPr sz="1275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275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Recall, F1</a:t>
            </a:r>
          </a:p>
        </p:txBody>
      </p:sp>
      <p:sp>
        <p:nvSpPr>
          <p:cNvPr id="107" name="balanced-accuracy">
            <a:extLst>
              <a:ext uri="{FF2B5EF4-FFF2-40B4-BE49-F238E27FC236}">
                <a16:creationId xmlns:a16="http://schemas.microsoft.com/office/drawing/2014/main" id="{E576F304-C5EF-4565-80E7-A1ACC259DCAA}"/>
              </a:ext>
            </a:extLst>
          </p:cNvPr>
          <p:cNvSpPr>
            <a:spLocks noGrp="1"/>
          </p:cNvSpPr>
          <p:nvPr/>
        </p:nvSpPr>
        <p:spPr>
          <a:xfrm>
            <a:off x="10725150" y="4914900"/>
            <a:ext cx="12477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172326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172326"/>
                </a:solidFill>
                <a:latin typeface="Arial"/>
                <a:ea typeface="Arial"/>
                <a:cs typeface="Arial"/>
              </a:rPr>
              <a:t>Balanced accuracy</a:t>
            </a:r>
          </a:p>
        </p:txBody>
      </p:sp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53DD6376-4A12-420A-8F7A-4E4A4BAC9E06}"/>
              </a:ext>
            </a:extLst>
          </p:cNvPr>
          <p:cNvCxnSpPr>
            <a:stCxn id="75" idx="3"/>
            <a:endCxn id="78" idx="1"/>
          </p:cNvCxnSpPr>
          <p:nvPr/>
        </p:nvCxnSpPr>
        <p:spPr>
          <a:xfrm>
            <a:off x="2169825" y="3600207"/>
            <a:ext cx="342900" cy="0"/>
          </a:xfrm>
          <a:prstGeom prst="straightConnector1">
            <a:avLst/>
          </a:prstGeom>
          <a:ln w="22860">
            <a:solidFill>
              <a:srgbClr val="35494C"/>
            </a:solidFill>
            <a:prstDash val="solid"/>
            <a:tailEnd type="triangle" w="med" len="med"/>
          </a:ln>
        </p:spPr>
      </p:cxnSp>
      <p:cxnSp>
        <p:nvCxnSpPr>
          <p:cNvPr id="109" name="Прямая со стрелкой 108">
            <a:extLst>
              <a:ext uri="{FF2B5EF4-FFF2-40B4-BE49-F238E27FC236}">
                <a16:creationId xmlns:a16="http://schemas.microsoft.com/office/drawing/2014/main" id="{E67736FC-59D2-418D-9F99-67FBCF87A44F}"/>
              </a:ext>
            </a:extLst>
          </p:cNvPr>
          <p:cNvCxnSpPr>
            <a:cxnSpLocks/>
            <a:stCxn id="78" idx="3"/>
            <a:endCxn id="83" idx="1"/>
          </p:cNvCxnSpPr>
          <p:nvPr/>
        </p:nvCxnSpPr>
        <p:spPr>
          <a:xfrm>
            <a:off x="4865400" y="3600207"/>
            <a:ext cx="244661" cy="4992"/>
          </a:xfrm>
          <a:prstGeom prst="straightConnector1">
            <a:avLst/>
          </a:prstGeom>
          <a:ln w="22860">
            <a:solidFill>
              <a:srgbClr val="35494C"/>
            </a:solidFill>
            <a:prstDash val="solid"/>
            <a:tailEnd type="triangle" w="med" len="med"/>
          </a:ln>
        </p:spPr>
      </p:cxnSp>
      <p:cxnSp>
        <p:nvCxnSpPr>
          <p:cNvPr id="110" name="Прямая со стрелкой 109">
            <a:extLst>
              <a:ext uri="{FF2B5EF4-FFF2-40B4-BE49-F238E27FC236}">
                <a16:creationId xmlns:a16="http://schemas.microsoft.com/office/drawing/2014/main" id="{4F1126B5-591F-40A6-AB08-6D8847825FFB}"/>
              </a:ext>
            </a:extLst>
          </p:cNvPr>
          <p:cNvCxnSpPr>
            <a:cxnSpLocks/>
            <a:stCxn id="83" idx="3"/>
            <a:endCxn id="96" idx="1"/>
          </p:cNvCxnSpPr>
          <p:nvPr/>
        </p:nvCxnSpPr>
        <p:spPr>
          <a:xfrm flipV="1">
            <a:off x="8063634" y="3600450"/>
            <a:ext cx="274823" cy="4749"/>
          </a:xfrm>
          <a:prstGeom prst="straightConnector1">
            <a:avLst/>
          </a:prstGeom>
          <a:ln w="22860">
            <a:solidFill>
              <a:srgbClr val="35494C"/>
            </a:solidFill>
            <a:prstDash val="solid"/>
            <a:tailEnd type="triangle" w="med" len="med"/>
          </a:ln>
        </p:spPr>
      </p:cxnSp>
      <p:cxnSp>
        <p:nvCxnSpPr>
          <p:cNvPr id="111" name="Прямая со стрелкой 110">
            <a:extLst>
              <a:ext uri="{FF2B5EF4-FFF2-40B4-BE49-F238E27FC236}">
                <a16:creationId xmlns:a16="http://schemas.microsoft.com/office/drawing/2014/main" id="{D04C5B39-0720-408C-B7A7-C0CFD0029BFE}"/>
              </a:ext>
            </a:extLst>
          </p:cNvPr>
          <p:cNvCxnSpPr>
            <a:stCxn id="96" idx="3"/>
            <a:endCxn id="103" idx="1"/>
          </p:cNvCxnSpPr>
          <p:nvPr/>
        </p:nvCxnSpPr>
        <p:spPr>
          <a:xfrm>
            <a:off x="10462532" y="3600450"/>
            <a:ext cx="227382" cy="100887"/>
          </a:xfrm>
          <a:prstGeom prst="straightConnector1">
            <a:avLst/>
          </a:prstGeom>
          <a:ln w="22860">
            <a:solidFill>
              <a:srgbClr val="35494C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357105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616D40-FF10-42AA-AD6E-E89BC0FA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0"/>
            <a:ext cx="9150675" cy="1427585"/>
          </a:xfrm>
        </p:spPr>
        <p:txBody>
          <a:bodyPr/>
          <a:lstStyle/>
          <a:p>
            <a:r>
              <a:rPr lang="ru-RU" b="1" dirty="0"/>
              <a:t>Экспериментальные исследования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7E148C-D695-4C40-BA69-A97B5D9DF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453" y="5455503"/>
            <a:ext cx="8552264" cy="5036384"/>
          </a:xfrm>
        </p:spPr>
        <p:txBody>
          <a:bodyPr>
            <a:normAutofit/>
          </a:bodyPr>
          <a:lstStyle/>
          <a:p>
            <a:pPr marL="101600" indent="0">
              <a:buNone/>
            </a:pPr>
            <a:r>
              <a:rPr lang="ru-RU" sz="1600" b="1" dirty="0"/>
              <a:t>Разметка набора данных </a:t>
            </a:r>
            <a:r>
              <a:rPr lang="en-US" sz="1600" b="1" dirty="0"/>
              <a:t>IQDS</a:t>
            </a:r>
            <a:r>
              <a:rPr lang="ru-RU" sz="1600" b="1" dirty="0"/>
              <a:t>:</a:t>
            </a:r>
          </a:p>
          <a:p>
            <a:pPr marL="101600" indent="0">
              <a:buNone/>
            </a:pPr>
            <a:r>
              <a:rPr lang="ru-RU" sz="1600" dirty="0"/>
              <a:t>Размечено 142216</a:t>
            </a:r>
            <a:r>
              <a:rPr lang="en-US" sz="1600" dirty="0"/>
              <a:t> </a:t>
            </a:r>
            <a:r>
              <a:rPr lang="ru-RU" sz="1600" dirty="0"/>
              <a:t>(1 точка</a:t>
            </a:r>
            <a:r>
              <a:rPr lang="en-US" sz="1600" dirty="0"/>
              <a:t> / </a:t>
            </a:r>
            <a:r>
              <a:rPr lang="ru-RU" sz="1600" dirty="0"/>
              <a:t>мин) точек</a:t>
            </a:r>
          </a:p>
          <a:p>
            <a:r>
              <a:rPr lang="ru-RU" sz="1600" dirty="0"/>
              <a:t>Аномалии </a:t>
            </a:r>
            <a:r>
              <a:rPr lang="en-US" sz="1600" dirty="0"/>
              <a:t>44350 </a:t>
            </a:r>
            <a:r>
              <a:rPr lang="ru-RU" sz="1600" dirty="0"/>
              <a:t>точек (</a:t>
            </a:r>
            <a:r>
              <a:rPr lang="en-US" sz="1600" dirty="0"/>
              <a:t>~31%)</a:t>
            </a:r>
            <a:r>
              <a:rPr lang="ru-RU" sz="1600" dirty="0"/>
              <a:t> - </a:t>
            </a:r>
            <a:r>
              <a:rPr lang="en-US" sz="1600" dirty="0"/>
              <a:t>30.8 </a:t>
            </a:r>
            <a:r>
              <a:rPr lang="ru-RU" sz="1600" dirty="0"/>
              <a:t>дней</a:t>
            </a:r>
            <a:endParaRPr lang="en-US" sz="1600" dirty="0"/>
          </a:p>
          <a:p>
            <a:r>
              <a:rPr lang="ru-RU" sz="1600" dirty="0"/>
              <a:t>Нормальные </a:t>
            </a:r>
            <a:r>
              <a:rPr lang="en-US" sz="1600" dirty="0"/>
              <a:t>97866</a:t>
            </a:r>
            <a:r>
              <a:rPr lang="ru-RU" sz="1600" dirty="0"/>
              <a:t> точек (</a:t>
            </a:r>
            <a:r>
              <a:rPr lang="en-US" sz="1600" dirty="0"/>
              <a:t>~69%)</a:t>
            </a:r>
            <a:r>
              <a:rPr lang="ru-RU" sz="1600" dirty="0"/>
              <a:t> - </a:t>
            </a:r>
            <a:r>
              <a:rPr lang="en-US" sz="1600" dirty="0"/>
              <a:t>67.9 </a:t>
            </a:r>
            <a:r>
              <a:rPr lang="ru-RU" sz="1600" dirty="0"/>
              <a:t>дней</a:t>
            </a:r>
            <a:endParaRPr lang="en-US" sz="1600" dirty="0"/>
          </a:p>
          <a:p>
            <a:pPr marL="101600" indent="0">
              <a:buNone/>
            </a:pPr>
            <a:endParaRPr lang="ru-RU" sz="1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8C1658-9274-456F-B7B6-2CEE3933A5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r>
              <a:rPr lang="ru-RU" dirty="0"/>
              <a:t>/24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C7A60318-7889-4F78-B19E-E7183277C1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9684448"/>
              </p:ext>
            </p:extLst>
          </p:nvPr>
        </p:nvGraphicFramePr>
        <p:xfrm>
          <a:off x="1371600" y="1197427"/>
          <a:ext cx="9492343" cy="4136573"/>
        </p:xfrm>
        <a:graphic>
          <a:graphicData uri="http://schemas.openxmlformats.org/drawingml/2006/table">
            <a:tbl>
              <a:tblPr/>
              <a:tblGrid>
                <a:gridCol w="3343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9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8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5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3989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  <a:endParaRPr sz="1400" b="1" dirty="0">
                        <a:solidFill>
                          <a:srgbClr val="0B1214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AP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23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Holt–Winters ETS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0,612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0,568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0,694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0,836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0,757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23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Matrix Profile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0,775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0,599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0,652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0,923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0,760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23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SARIMA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0,828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0,669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0,730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0,873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0,793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323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CatBoost</a:t>
                      </a:r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календарь</a:t>
                      </a:r>
                      <a:endParaRPr sz="1400" b="1" dirty="0">
                        <a:solidFill>
                          <a:srgbClr val="0B1214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0,768</a:t>
                      </a:r>
                    </a:p>
                  </a:txBody>
                  <a:tcPr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0,650</a:t>
                      </a:r>
                    </a:p>
                  </a:txBody>
                  <a:tcPr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0,822</a:t>
                      </a:r>
                    </a:p>
                  </a:txBody>
                  <a:tcPr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0,840</a:t>
                      </a:r>
                    </a:p>
                  </a:txBody>
                  <a:tcPr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0,831</a:t>
                      </a:r>
                    </a:p>
                  </a:txBody>
                  <a:tcPr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323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CatBoost</a:t>
                      </a:r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 + sin/cos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0,802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0,732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0,850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0,826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0,838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323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CatBoost</a:t>
                      </a:r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 + SR(t−1)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0,812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0,759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0,845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0,833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0,838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323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  <a:endParaRPr sz="1400" b="1" dirty="0">
                        <a:solidFill>
                          <a:srgbClr val="0B1214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0,817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0,776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0,844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0,812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0,826</a:t>
                      </a:r>
                    </a:p>
                  </a:txBody>
                  <a:tcPr anchor="ctr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0323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SR–CNN</a:t>
                      </a:r>
                    </a:p>
                  </a:txBody>
                  <a:tcPr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0,726</a:t>
                      </a:r>
                    </a:p>
                  </a:txBody>
                  <a:tcPr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0,670</a:t>
                      </a:r>
                    </a:p>
                  </a:txBody>
                  <a:tcPr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0,747</a:t>
                      </a:r>
                    </a:p>
                  </a:txBody>
                  <a:tcPr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0,729</a:t>
                      </a:r>
                    </a:p>
                  </a:txBody>
                  <a:tcPr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0,733</a:t>
                      </a:r>
                    </a:p>
                  </a:txBody>
                  <a:tcPr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353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616D40-FF10-42AA-AD6E-E89BC0FA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0"/>
            <a:ext cx="9150675" cy="1427585"/>
          </a:xfrm>
        </p:spPr>
        <p:txBody>
          <a:bodyPr/>
          <a:lstStyle/>
          <a:p>
            <a:r>
              <a:rPr lang="ru-RU" b="1" dirty="0"/>
              <a:t>Экспериментальные исследования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7E148C-D695-4C40-BA69-A97B5D9DF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453" y="5455503"/>
            <a:ext cx="8552264" cy="5036384"/>
          </a:xfrm>
        </p:spPr>
        <p:txBody>
          <a:bodyPr>
            <a:normAutofit/>
          </a:bodyPr>
          <a:lstStyle/>
          <a:p>
            <a:pPr marL="101600" indent="0" algn="l">
              <a:buNone/>
              <a:defRPr sz="1125" b="0">
                <a:solidFill>
                  <a:srgbClr val="0B1214"/>
                </a:solidFill>
                <a:latin typeface="Arial"/>
                <a:ea typeface="Arial"/>
                <a:cs typeface="Arial"/>
              </a:defRPr>
            </a:pPr>
            <a:r>
              <a:rPr lang="ru-RU" sz="1600" b="0" dirty="0">
                <a:solidFill>
                  <a:srgbClr val="0B1214"/>
                </a:solidFill>
                <a:latin typeface="Arial"/>
                <a:ea typeface="Arial"/>
                <a:cs typeface="Arial"/>
              </a:rPr>
              <a:t>Перебор: </a:t>
            </a:r>
            <a:r>
              <a:rPr lang="ru-RU" sz="1600" b="0" dirty="0" err="1">
                <a:solidFill>
                  <a:srgbClr val="0B1214"/>
                </a:solidFill>
                <a:latin typeface="Arial"/>
                <a:ea typeface="Arial"/>
                <a:cs typeface="Arial"/>
              </a:rPr>
              <a:t>Wavelet</a:t>
            </a:r>
            <a:r>
              <a:rPr lang="ru-RU" sz="1600" dirty="0">
                <a:solidFill>
                  <a:srgbClr val="0B1214"/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1600" b="0" dirty="0">
                <a:solidFill>
                  <a:srgbClr val="0B1214"/>
                </a:solidFill>
                <a:latin typeface="Arial"/>
                <a:ea typeface="Arial"/>
                <a:cs typeface="Arial"/>
              </a:rPr>
              <a:t>STL и SSA </a:t>
            </a:r>
            <a:r>
              <a:rPr lang="en-US" sz="1600" b="0" dirty="0">
                <a:solidFill>
                  <a:srgbClr val="0B1214"/>
                </a:solidFill>
                <a:latin typeface="Arial"/>
                <a:ea typeface="Arial"/>
                <a:cs typeface="Arial"/>
              </a:rPr>
              <a:t>1/2/</a:t>
            </a:r>
            <a:r>
              <a:rPr lang="ru-RU" sz="1600" b="0" dirty="0">
                <a:solidFill>
                  <a:srgbClr val="0B1214"/>
                </a:solidFill>
                <a:latin typeface="Arial"/>
                <a:ea typeface="Arial"/>
                <a:cs typeface="Arial"/>
              </a:rPr>
              <a:t>3/5/7 суток, выбор отдельно для модели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8C1658-9274-456F-B7B6-2CEE3933A5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r>
              <a:rPr lang="ru-RU" dirty="0"/>
              <a:t>/24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823DD748-F244-4551-B7C1-49643092D7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867537"/>
              </p:ext>
            </p:extLst>
          </p:nvPr>
        </p:nvGraphicFramePr>
        <p:xfrm>
          <a:off x="1322613" y="1262743"/>
          <a:ext cx="9007930" cy="4000503"/>
        </p:xfrm>
        <a:graphic>
          <a:graphicData uri="http://schemas.openxmlformats.org/drawingml/2006/table">
            <a:tbl>
              <a:tblPr/>
              <a:tblGrid>
                <a:gridCol w="3167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1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9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84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0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24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Метод</a:t>
                      </a:r>
                    </a:p>
                  </a:txBody>
                  <a:tcPr anchor="ctr">
                    <a:solidFill>
                      <a:srgbClr val="D7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anchor="ctr">
                    <a:solidFill>
                      <a:srgbClr val="D7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AP</a:t>
                      </a:r>
                    </a:p>
                  </a:txBody>
                  <a:tcPr anchor="ctr">
                    <a:solidFill>
                      <a:srgbClr val="D7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D7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Recall</a:t>
                      </a:r>
                    </a:p>
                  </a:txBody>
                  <a:tcPr anchor="ctr">
                    <a:solidFill>
                      <a:srgbClr val="D7E6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anchor="ctr">
                    <a:solidFill>
                      <a:srgbClr val="D7E6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7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CatBoost + Wavelet (2 сут)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0,772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0,735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0,853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0,818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0,833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77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XGBoost + Wavelet (2 сут)</a:t>
                      </a:r>
                    </a:p>
                  </a:txBody>
                  <a:tcPr anchor="ctr">
                    <a:solidFill>
                      <a:srgbClr val="E0EB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0,768</a:t>
                      </a:r>
                    </a:p>
                  </a:txBody>
                  <a:tcPr anchor="ctr">
                    <a:solidFill>
                      <a:srgbClr val="E0EB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0,762</a:t>
                      </a:r>
                    </a:p>
                  </a:txBody>
                  <a:tcPr anchor="ctr">
                    <a:solidFill>
                      <a:srgbClr val="E0EB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0,850</a:t>
                      </a:r>
                    </a:p>
                  </a:txBody>
                  <a:tcPr anchor="ctr">
                    <a:solidFill>
                      <a:srgbClr val="E0EB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0,808</a:t>
                      </a:r>
                    </a:p>
                  </a:txBody>
                  <a:tcPr anchor="ctr">
                    <a:solidFill>
                      <a:srgbClr val="E0EB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0,827</a:t>
                      </a:r>
                    </a:p>
                  </a:txBody>
                  <a:tcPr anchor="ctr">
                    <a:solidFill>
                      <a:srgbClr val="E0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77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CatBoost</a:t>
                      </a:r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 + STL (7 </a:t>
                      </a:r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сут</a:t>
                      </a:r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0,895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0,825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0,894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0,823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0,857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77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 + STL (5 </a:t>
                      </a:r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сут</a:t>
                      </a:r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</a:p>
                  </a:txBody>
                  <a:tcPr anchor="ctr">
                    <a:solidFill>
                      <a:srgbClr val="9EBF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0,919</a:t>
                      </a:r>
                    </a:p>
                  </a:txBody>
                  <a:tcPr anchor="ctr">
                    <a:solidFill>
                      <a:srgbClr val="9EBF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0,871</a:t>
                      </a:r>
                    </a:p>
                  </a:txBody>
                  <a:tcPr anchor="ctr">
                    <a:solidFill>
                      <a:srgbClr val="9EBF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0,904</a:t>
                      </a:r>
                    </a:p>
                  </a:txBody>
                  <a:tcPr anchor="ctr">
                    <a:solidFill>
                      <a:srgbClr val="9EBF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0,849</a:t>
                      </a:r>
                    </a:p>
                  </a:txBody>
                  <a:tcPr anchor="ctr">
                    <a:solidFill>
                      <a:srgbClr val="9EBF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0,875</a:t>
                      </a:r>
                    </a:p>
                  </a:txBody>
                  <a:tcPr anchor="ctr">
                    <a:solidFill>
                      <a:srgbClr val="9EBF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77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CatBoost</a:t>
                      </a:r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 + SSA (5 </a:t>
                      </a:r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сут</a:t>
                      </a:r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0,785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0,713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0,848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0,823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0,834</a:t>
                      </a:r>
                    </a:p>
                  </a:txBody>
                  <a:tcPr anchor="ctr">
                    <a:solidFill>
                      <a:srgbClr val="EA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77">
                <a:tc>
                  <a:txBody>
                    <a:bodyPr/>
                    <a:lstStyle/>
                    <a:p>
                      <a:pPr algn="l"/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XGBoost</a:t>
                      </a:r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 + SSA (5 </a:t>
                      </a:r>
                      <a:r>
                        <a:rPr sz="1400" b="1" dirty="0" err="1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сут</a:t>
                      </a:r>
                      <a:r>
                        <a:rPr sz="1400" b="1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)</a:t>
                      </a:r>
                    </a:p>
                  </a:txBody>
                  <a:tcPr anchor="ctr">
                    <a:solidFill>
                      <a:srgbClr val="E0EB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0,797</a:t>
                      </a:r>
                    </a:p>
                  </a:txBody>
                  <a:tcPr anchor="ctr">
                    <a:solidFill>
                      <a:srgbClr val="E0EB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0,766</a:t>
                      </a:r>
                    </a:p>
                  </a:txBody>
                  <a:tcPr anchor="ctr">
                    <a:solidFill>
                      <a:srgbClr val="E0EB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0,859</a:t>
                      </a:r>
                    </a:p>
                  </a:txBody>
                  <a:tcPr anchor="ctr">
                    <a:solidFill>
                      <a:srgbClr val="E0EB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0,811</a:t>
                      </a:r>
                    </a:p>
                  </a:txBody>
                  <a:tcPr anchor="ctr">
                    <a:solidFill>
                      <a:srgbClr val="E0EB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0B1214"/>
                          </a:solidFill>
                          <a:latin typeface="Arial"/>
                          <a:ea typeface="Arial"/>
                          <a:cs typeface="Arial"/>
                        </a:rPr>
                        <a:t>0,833</a:t>
                      </a:r>
                    </a:p>
                  </a:txBody>
                  <a:tcPr anchor="ctr">
                    <a:solidFill>
                      <a:srgbClr val="E0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354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616D40-FF10-42AA-AD6E-E89BC0FA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0"/>
            <a:ext cx="9150675" cy="1427585"/>
          </a:xfrm>
        </p:spPr>
        <p:txBody>
          <a:bodyPr/>
          <a:lstStyle/>
          <a:p>
            <a:r>
              <a:rPr lang="ru-RU" b="1" dirty="0"/>
              <a:t>Результаты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7E148C-D695-4C40-BA69-A97B5D9DF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153" y="1191802"/>
            <a:ext cx="8552264" cy="5036384"/>
          </a:xfrm>
        </p:spPr>
        <p:txBody>
          <a:bodyPr>
            <a:normAutofit/>
          </a:bodyPr>
          <a:lstStyle/>
          <a:p>
            <a:r>
              <a:rPr lang="ru-RU" dirty="0"/>
              <a:t>Разработан подход к обнаружению аномальной работы оборудования на основе </a:t>
            </a:r>
            <a:r>
              <a:rPr lang="ru-RU" dirty="0" err="1"/>
              <a:t>XGBoost</a:t>
            </a:r>
            <a:r>
              <a:rPr lang="ru-RU" dirty="0"/>
              <a:t>, использующий суточные лаги, календарные признаки и признаки тренда и сезонности, полученные с помощью STL, показавший лучший результат на наборе данных IQDS</a:t>
            </a:r>
          </a:p>
          <a:p>
            <a:r>
              <a:rPr lang="ru-RU" dirty="0">
                <a:effectLst/>
              </a:rPr>
              <a:t>Разработана архитектура и реализован программный модуль для загрузки, предобработки, разметки данных, запуска методов обнаружения аномалий и расчёта метрик качества</a:t>
            </a:r>
          </a:p>
          <a:p>
            <a:pPr marL="101600" indent="0">
              <a:spcBef>
                <a:spcPts val="600"/>
              </a:spcBef>
              <a:buNone/>
            </a:pPr>
            <a:br>
              <a:rPr lang="ru-RU" dirty="0"/>
            </a:br>
            <a:endParaRPr lang="ru-RU" dirty="0">
              <a:effectLst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8C1658-9274-456F-B7B6-2CEE3933A5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r>
              <a:rPr lang="ru-RU" dirty="0"/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2036304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49EC53-A948-4412-ABB3-5F7C44165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+mn-lt"/>
              </a:rPr>
              <a:t>Планы</a:t>
            </a:r>
            <a:r>
              <a:rPr lang="ru-RU" b="1" dirty="0">
                <a:latin typeface="+mj-lt"/>
              </a:rPr>
              <a:t> на будущее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D6F9B5-3A8E-4801-A1AA-55F324FE3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ru-RU" dirty="0"/>
              <a:t>Исследовать реализованные методы на расширенных данных: температуру внутри помещения, погодные данные</a:t>
            </a:r>
          </a:p>
          <a:p>
            <a:pPr>
              <a:lnSpc>
                <a:spcPct val="150000"/>
              </a:lnSpc>
            </a:pPr>
            <a:r>
              <a:rPr lang="ru-RU" dirty="0"/>
              <a:t>Исследовать </a:t>
            </a:r>
            <a:r>
              <a:rPr lang="ru-RU" dirty="0" err="1"/>
              <a:t>нейросетевые</a:t>
            </a:r>
            <a:r>
              <a:rPr lang="ru-RU" dirty="0"/>
              <a:t> модели временных рядов: LSTM и </a:t>
            </a:r>
            <a:r>
              <a:rPr lang="ru-RU" dirty="0" err="1"/>
              <a:t>автоэнкодеры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DA28E0-1703-4F8F-A9DD-B753E0D1C8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r>
              <a:rPr lang="ru-RU" dirty="0"/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2410977905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2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69057</TotalTime>
  <Words>2380</Words>
  <Application>Microsoft Office PowerPoint</Application>
  <PresentationFormat>Широкоэкранный</PresentationFormat>
  <Paragraphs>381</Paragraphs>
  <Slides>24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Arial</vt:lpstr>
      <vt:lpstr>Cambria Math</vt:lpstr>
      <vt:lpstr>Calibri</vt:lpstr>
      <vt:lpstr>Open Sans Light</vt:lpstr>
      <vt:lpstr>Пользовательская</vt:lpstr>
      <vt:lpstr>Исследование и разработка методов машинного обучения в задаче обнаружения нештатной работы оборудования</vt:lpstr>
      <vt:lpstr>Введение</vt:lpstr>
      <vt:lpstr>Введение</vt:lpstr>
      <vt:lpstr>Введение</vt:lpstr>
      <vt:lpstr>Постановка задачи</vt:lpstr>
      <vt:lpstr>Обзор</vt:lpstr>
      <vt:lpstr>Обучение без учителя (Unsupervised)</vt:lpstr>
      <vt:lpstr>Обучение с частичным привлечением учителя (Semi-supervised)</vt:lpstr>
      <vt:lpstr>Модели представления временных рядов</vt:lpstr>
      <vt:lpstr>Наборы данных</vt:lpstr>
      <vt:lpstr>Выводы обзора</vt:lpstr>
      <vt:lpstr>Исследование и построение решения</vt:lpstr>
      <vt:lpstr>Исследование и построение решения</vt:lpstr>
      <vt:lpstr>Исследование и построение решения</vt:lpstr>
      <vt:lpstr>Исследование и построение решения</vt:lpstr>
      <vt:lpstr>Исследование и построение решения</vt:lpstr>
      <vt:lpstr>Исследование и построение решения</vt:lpstr>
      <vt:lpstr>Практическая часть</vt:lpstr>
      <vt:lpstr>Практическая часть</vt:lpstr>
      <vt:lpstr>Программный модуль для экспериментов </vt:lpstr>
      <vt:lpstr>Экспериментальные исследования</vt:lpstr>
      <vt:lpstr>Экспериментальные исследования</vt:lpstr>
      <vt:lpstr>Результаты</vt:lpstr>
      <vt:lpstr>Планы на будущее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Исследование и разработка методов машинного обучения в задаче обнаружения нештатной работы оборудования</dc:title>
  <dc:creator>Andrey Vorobev</dc:creator>
  <cp:lastModifiedBy>Andrey Vorobev</cp:lastModifiedBy>
  <cp:revision>207</cp:revision>
  <dcterms:modified xsi:type="dcterms:W3CDTF">2026-10-08T17:59:54Z</dcterms:modified>
</cp:coreProperties>
</file>